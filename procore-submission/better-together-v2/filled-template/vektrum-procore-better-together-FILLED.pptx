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37018" y="1047404"/>
            <a:ext cx="3782291" cy="515389"/>
          </a:xfrm>
          <a:prstGeom prst="rect">
            <a:avLst/>
          </a:prstGeom>
          <a:solidFill>
            <a:srgbClr val="ECDFD6"/>
          </a:solidFill>
          <a:ln/>
        </p:spPr>
      </p:sp>
      <p:sp>
        <p:nvSpPr>
          <p:cNvPr id="3" name="Text 1"/>
          <p:cNvSpPr/>
          <p:nvPr/>
        </p:nvSpPr>
        <p:spPr>
          <a:xfrm>
            <a:off x="5270269" y="1064029"/>
            <a:ext cx="3749040" cy="4821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FE5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Vektrum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386647" y="3200400"/>
            <a:ext cx="2917767" cy="548640"/>
          </a:xfrm>
          <a:prstGeom prst="rect">
            <a:avLst/>
          </a:prstGeom>
          <a:solidFill>
            <a:srgbClr val="1B1B1B"/>
          </a:solidFill>
          <a:ln/>
        </p:spPr>
      </p:sp>
      <p:pic>
        <p:nvPicPr>
          <p:cNvPr id="5" name="Image 0" descr="vmark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4175" y="3308465"/>
            <a:ext cx="365760" cy="33250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16436" y="3291840"/>
            <a:ext cx="1413164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Vektrum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320145" y="3865418"/>
            <a:ext cx="3158836" cy="523702"/>
          </a:xfrm>
          <a:prstGeom prst="rect">
            <a:avLst/>
          </a:prstGeom>
          <a:solidFill>
            <a:srgbClr val="ECDFD6"/>
          </a:solidFill>
          <a:ln/>
        </p:spPr>
      </p:sp>
      <p:sp>
        <p:nvSpPr>
          <p:cNvPr id="8" name="Text 5"/>
          <p:cNvSpPr/>
          <p:nvPr/>
        </p:nvSpPr>
        <p:spPr>
          <a:xfrm>
            <a:off x="5386647" y="3890356"/>
            <a:ext cx="3042458" cy="4821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Procore keeps the project record. Vektrum adds enforceable release governance before construction funds are disbursed.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361709" y="4472247"/>
            <a:ext cx="3200400" cy="615142"/>
          </a:xfrm>
          <a:prstGeom prst="rect">
            <a:avLst/>
          </a:prstGeom>
          <a:solidFill>
            <a:srgbClr val="ECDFD6"/>
          </a:solidFill>
          <a:ln/>
        </p:spPr>
      </p:sp>
      <p:sp>
        <p:nvSpPr>
          <p:cNvPr id="10" name="Shape 7"/>
          <p:cNvSpPr/>
          <p:nvPr/>
        </p:nvSpPr>
        <p:spPr>
          <a:xfrm>
            <a:off x="3757353" y="4638502"/>
            <a:ext cx="1496291" cy="507076"/>
          </a:xfrm>
          <a:prstGeom prst="rect">
            <a:avLst/>
          </a:prstGeom>
          <a:solidFill>
            <a:srgbClr val="ECDFD6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49382" y="1429789"/>
            <a:ext cx="4954385" cy="748145"/>
          </a:xfrm>
          <a:prstGeom prst="rect">
            <a:avLst/>
          </a:prstGeom>
          <a:solidFill>
            <a:srgbClr val="ECDFD6"/>
          </a:solidFill>
          <a:ln/>
        </p:spPr>
      </p:sp>
      <p:sp>
        <p:nvSpPr>
          <p:cNvPr id="3" name="Text 1"/>
          <p:cNvSpPr/>
          <p:nvPr/>
        </p:nvSpPr>
        <p:spPr>
          <a:xfrm>
            <a:off x="299258" y="1463040"/>
            <a:ext cx="4854633" cy="681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Procore shows what happened on the project. Vektrum enforces what must be true before the money is released.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83127" y="2909455"/>
            <a:ext cx="2593571" cy="1995055"/>
          </a:xfrm>
          <a:prstGeom prst="rect">
            <a:avLst/>
          </a:prstGeom>
          <a:solidFill>
            <a:srgbClr val="ECDFD6"/>
          </a:solidFill>
          <a:ln/>
        </p:spPr>
      </p:sp>
      <p:sp>
        <p:nvSpPr>
          <p:cNvPr id="5" name="Text 3"/>
          <p:cNvSpPr/>
          <p:nvPr/>
        </p:nvSpPr>
        <p:spPr>
          <a:xfrm>
            <a:off x="116378" y="2959331"/>
            <a:ext cx="2527069" cy="615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E5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 </a:t>
            </a:r>
            <a:pPr indent="0" marL="0">
              <a:buNone/>
            </a:pPr>
            <a:r>
              <a:rPr lang="en-US" sz="950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 lenders &amp; private-credit funds administering draws on projects their contractors run in Procore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6378" y="3607724"/>
            <a:ext cx="2527069" cy="615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E5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 </a:t>
            </a:r>
            <a:pPr indent="0" marL="0">
              <a:buNone/>
            </a:pPr>
            <a:r>
              <a:rPr lang="en-US" sz="950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 &amp; developers running fund control on Procore-managed projects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6378" y="4256116"/>
            <a:ext cx="2527069" cy="615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E5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 </a:t>
            </a:r>
            <a:pPr indent="0" marL="0">
              <a:buNone/>
            </a:pPr>
            <a:r>
              <a:rPr lang="en-US" sz="950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Title, escrow &amp; fund-control partners executing disbursements who need verifiable authorization evidence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68138" y="2909455"/>
            <a:ext cx="2452255" cy="1995055"/>
          </a:xfrm>
          <a:prstGeom prst="rect">
            <a:avLst/>
          </a:prstGeom>
          <a:solidFill>
            <a:srgbClr val="ECDFD6"/>
          </a:solidFill>
          <a:ln/>
        </p:spPr>
      </p:sp>
      <p:sp>
        <p:nvSpPr>
          <p:cNvPr id="9" name="Text 7"/>
          <p:cNvSpPr/>
          <p:nvPr/>
        </p:nvSpPr>
        <p:spPr>
          <a:xfrm>
            <a:off x="2801389" y="2959331"/>
            <a:ext cx="2402378" cy="615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E5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 </a:t>
            </a:r>
            <a:pPr indent="0" marL="0">
              <a:buNone/>
            </a:pPr>
            <a:r>
              <a:rPr lang="en-US" sz="95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Enforcement, not tracking. </a:t>
            </a:r>
            <a:pPr indent="0" marL="0">
              <a:buNone/>
            </a:pPr>
            <a:r>
              <a:rPr lang="en-US" sz="950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10 release conditions must pass before authorization — no one can bypass the gate.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801389" y="3607724"/>
            <a:ext cx="2402378" cy="615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E5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 </a:t>
            </a:r>
            <a:pPr indent="0" marL="0">
              <a:buNone/>
            </a:pPr>
            <a:r>
              <a:rPr lang="en-US" sz="95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by default. </a:t>
            </a:r>
            <a:pPr indent="0" marL="0">
              <a:buNone/>
            </a:pPr>
            <a:r>
              <a:rPr lang="en-US" sz="950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append-only, hash-chained, tamper-evident audit trail.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801389" y="4256116"/>
            <a:ext cx="2402378" cy="615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E5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 </a:t>
            </a:r>
            <a:pPr indent="0" marL="0">
              <a:buNone/>
            </a:pPr>
            <a:r>
              <a:rPr lang="en-US" sz="95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rip-and-replace. </a:t>
            </a:r>
            <a:pPr indent="0" marL="0">
              <a:buNone/>
            </a:pPr>
            <a:r>
              <a:rPr lang="en-US" sz="950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Non-custodial and rail-neutral — keep Procore and your payment process.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2262" y="1396538"/>
            <a:ext cx="2460567" cy="83127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96538"/>
            <a:ext cx="2419004" cy="83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 decisions live outside the record
</a:t>
            </a:r>
            <a:pPr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decisions for the capital funding a project too often run on emailed PDFs and manual sign-off.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32262" y="2552007"/>
            <a:ext cx="2460567" cy="83127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552007"/>
            <a:ext cx="2419004" cy="83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is not enforcement
</a:t>
            </a:r>
            <a:pPr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structurally stops a release when a lien waiver is missing or a change order is still open.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32262" y="3707476"/>
            <a:ext cx="2460567" cy="83127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707476"/>
            <a:ext cx="2419004" cy="83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is scattered, disputes over-freeze
</a:t>
            </a:r>
            <a:pPr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of who authorized what is spread across inboxes — and one dispute can stall a project’s funding.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58095" y="1895302"/>
            <a:ext cx="3624349" cy="324196"/>
          </a:xfrm>
          <a:prstGeom prst="rect">
            <a:avLst/>
          </a:prstGeom>
          <a:solidFill>
            <a:srgbClr val="823A12"/>
          </a:solidFill>
          <a:ln/>
        </p:spPr>
      </p:sp>
      <p:sp>
        <p:nvSpPr>
          <p:cNvPr id="9" name="Text 7"/>
          <p:cNvSpPr/>
          <p:nvPr/>
        </p:nvSpPr>
        <p:spPr>
          <a:xfrm>
            <a:off x="3591098" y="1895302"/>
            <a:ext cx="3424844" cy="324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evidence meets enforced release conditions.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58095" y="2460567"/>
            <a:ext cx="4073236" cy="324196"/>
          </a:xfrm>
          <a:prstGeom prst="rect">
            <a:avLst/>
          </a:prstGeom>
          <a:solidFill>
            <a:srgbClr val="C4480C"/>
          </a:solidFill>
          <a:ln/>
        </p:spPr>
      </p:sp>
      <p:sp>
        <p:nvSpPr>
          <p:cNvPr id="11" name="Text 9"/>
          <p:cNvSpPr/>
          <p:nvPr/>
        </p:nvSpPr>
        <p:spPr>
          <a:xfrm>
            <a:off x="3591098" y="2460567"/>
            <a:ext cx="3873731" cy="324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Blocked draws show exactly what’s missing.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58095" y="3025833"/>
            <a:ext cx="4538749" cy="324196"/>
          </a:xfrm>
          <a:prstGeom prst="rect">
            <a:avLst/>
          </a:prstGeom>
          <a:solidFill>
            <a:srgbClr val="E16E38"/>
          </a:solidFill>
          <a:ln/>
        </p:spPr>
      </p:sp>
      <p:sp>
        <p:nvSpPr>
          <p:cNvPr id="13" name="Text 11"/>
          <p:cNvSpPr/>
          <p:nvPr/>
        </p:nvSpPr>
        <p:spPr>
          <a:xfrm>
            <a:off x="3591098" y="3025833"/>
            <a:ext cx="4339244" cy="324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release carries provable authorization.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366655" y="3591098"/>
            <a:ext cx="5320145" cy="856211"/>
          </a:xfrm>
          <a:prstGeom prst="rect">
            <a:avLst/>
          </a:prstGeom>
          <a:solidFill>
            <a:srgbClr val="ECDFD6"/>
          </a:solidFill>
          <a:ln/>
        </p:spPr>
      </p:sp>
      <p:sp>
        <p:nvSpPr>
          <p:cNvPr id="15" name="Text 13"/>
          <p:cNvSpPr/>
          <p:nvPr/>
        </p:nvSpPr>
        <p:spPr>
          <a:xfrm>
            <a:off x="3408218" y="3640975"/>
            <a:ext cx="5237018" cy="781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Vektrum evaluates draw evidence against a deterministic release gate, records the funder’s authorization, and keeps tamper-evident proof — alongside Procore as the project and cost system of record. The simulated joint workflow demonstrates how Procore-originated records would feed that review.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990109" y="1097280"/>
            <a:ext cx="2128058" cy="1745673"/>
          </a:xfrm>
          <a:prstGeom prst="rect">
            <a:avLst/>
          </a:prstGeom>
          <a:solidFill>
            <a:srgbClr val="ECDFD6"/>
          </a:solidFill>
          <a:ln/>
        </p:spPr>
      </p:sp>
      <p:sp>
        <p:nvSpPr>
          <p:cNvPr id="3" name="Text 1"/>
          <p:cNvSpPr/>
          <p:nvPr/>
        </p:nvSpPr>
        <p:spPr>
          <a:xfrm>
            <a:off x="4023360" y="1130531"/>
            <a:ext cx="2078182" cy="1712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Change-order-aware draw readiness
</a:t>
            </a:r>
            <a:pPr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an open change order touches a draw’s milestone, the release gate blocks that authorization until it is resolved. In the simulated workflow, resolving it at source clears the block.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50676" y="1097280"/>
            <a:ext cx="2144684" cy="1745673"/>
          </a:xfrm>
          <a:prstGeom prst="rect">
            <a:avLst/>
          </a:prstGeom>
          <a:solidFill>
            <a:srgbClr val="ECDFD6"/>
          </a:solidFill>
          <a:ln/>
        </p:spPr>
      </p:sp>
      <p:sp>
        <p:nvSpPr>
          <p:cNvPr id="5" name="Text 3"/>
          <p:cNvSpPr/>
          <p:nvPr/>
        </p:nvSpPr>
        <p:spPr>
          <a:xfrm>
            <a:off x="6483927" y="1130531"/>
            <a:ext cx="2094807" cy="1712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Lien-waiver completeness before release
</a:t>
            </a:r>
            <a:pPr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 required conditional lien waiver is not yet approved, the gate blocks the draw; once the approved waiver is on file, the gate can pass and the funder can authorize.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990109" y="3183775"/>
            <a:ext cx="4605251" cy="922713"/>
          </a:xfrm>
          <a:prstGeom prst="rect">
            <a:avLst/>
          </a:prstGeom>
          <a:solidFill>
            <a:srgbClr val="ECDFD6"/>
          </a:solidFill>
          <a:ln/>
        </p:spPr>
      </p:sp>
      <p:sp>
        <p:nvSpPr>
          <p:cNvPr id="7" name="Text 5"/>
          <p:cNvSpPr/>
          <p:nvPr/>
        </p:nvSpPr>
        <p:spPr>
          <a:xfrm>
            <a:off x="4023360" y="3217025"/>
            <a:ext cx="4538749" cy="872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 isolation with execution proof
</a:t>
            </a:r>
            <a:pPr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one milestone is disputed, only that release unit is blocked — unrelated milestones keep moving. The executing partner’s confirmation is recorded against the signed authorization.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840480" y="4372495"/>
            <a:ext cx="4887884" cy="681644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9" name="Text 7"/>
          <p:cNvSpPr/>
          <p:nvPr/>
        </p:nvSpPr>
        <p:spPr>
          <a:xfrm>
            <a:off x="3940233" y="4488873"/>
            <a:ext cx="4705004" cy="498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Release-gate enforcement is live in Vektrum today. The Procore-connected workflow is shown as a simulated concept; production integration is planned.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9258" y="1579418"/>
            <a:ext cx="4405745" cy="2477193"/>
          </a:xfrm>
          <a:prstGeom prst="rect">
            <a:avLst/>
          </a:prstGeom>
          <a:solidFill>
            <a:srgbClr val="ECDFD6"/>
          </a:solidFill>
          <a:ln/>
        </p:spPr>
      </p:sp>
      <p:sp>
        <p:nvSpPr>
          <p:cNvPr id="3" name="Text 1"/>
          <p:cNvSpPr/>
          <p:nvPr/>
        </p:nvSpPr>
        <p:spPr>
          <a:xfrm>
            <a:off x="349135" y="1645920"/>
            <a:ext cx="4322618" cy="581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E5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 </a:t>
            </a:r>
            <a:pPr indent="0" marL="0">
              <a:buNone/>
            </a:pPr>
            <a:r>
              <a:rPr lang="en-US" sz="105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required conditions, zero exceptions: </a:t>
            </a:r>
            <a:pPr indent="0" marL="0">
              <a:buNone/>
            </a:pPr>
            <a:r>
              <a:rPr lang="en-US" sz="1050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release authorization passes the full deterministic gate. (Internal product metric)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49135" y="2261062"/>
            <a:ext cx="4322618" cy="581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E5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 </a:t>
            </a:r>
            <a:pPr indent="0" marL="0">
              <a:buNone/>
            </a:pPr>
            <a:r>
              <a:rPr lang="en-US" sz="105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Blocked before, not disputed after: </a:t>
            </a:r>
            <a:pPr indent="0" marL="0">
              <a:buNone/>
            </a:pPr>
            <a:r>
              <a:rPr lang="en-US" sz="1050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waivers and open change orders stop the affected draw before funds are authorized.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49135" y="2876204"/>
            <a:ext cx="4322618" cy="581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E5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 </a:t>
            </a:r>
            <a:pPr indent="0" marL="0">
              <a:buNone/>
            </a:pPr>
            <a:r>
              <a:rPr lang="en-US" sz="105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Audit-ready by default: </a:t>
            </a:r>
            <a:pPr indent="0" marL="0">
              <a:buNone/>
            </a:pPr>
            <a:r>
              <a:rPr lang="en-US" sz="1050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exportable, hash-chained, tamper-evident evidence for LP reporting, audits, and reviews.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49135" y="3491345"/>
            <a:ext cx="4322618" cy="581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E5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 </a:t>
            </a:r>
            <a:pPr indent="0" marL="0">
              <a:buNone/>
            </a:pPr>
            <a:r>
              <a:rPr lang="en-US" sz="105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keeps moving under dispute: </a:t>
            </a:r>
            <a:pPr indent="0" marL="0">
              <a:buNone/>
            </a:pPr>
            <a:r>
              <a:rPr lang="en-US" sz="1050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milestone-level isolation blocks one release unit, not the whole project.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15884" y="4156364"/>
            <a:ext cx="4355869" cy="565265"/>
          </a:xfrm>
          <a:prstGeom prst="rect">
            <a:avLst/>
          </a:prstGeom>
          <a:solidFill>
            <a:srgbClr val="ECDFD6"/>
          </a:solidFill>
          <a:ln/>
        </p:spPr>
      </p:sp>
      <p:sp>
        <p:nvSpPr>
          <p:cNvPr id="8" name="Shape 6"/>
          <p:cNvSpPr/>
          <p:nvPr/>
        </p:nvSpPr>
        <p:spPr>
          <a:xfrm>
            <a:off x="349135" y="4197927"/>
            <a:ext cx="4289367" cy="465513"/>
          </a:xfrm>
          <a:prstGeom prst="rect">
            <a:avLst/>
          </a:prstGeom>
          <a:solidFill>
            <a:srgbClr val="EFEFEF"/>
          </a:solidFill>
          <a:ln w="9525">
            <a:solidFill>
              <a:srgbClr val="9A9A9A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432262" y="4256116"/>
            <a:ext cx="4123113" cy="399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joint-customer metrics yet: the proof points at right are illustrative scenarios, clearly labeled. Joint pilot data would replace them.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137265" y="1546167"/>
            <a:ext cx="3441469" cy="3092335"/>
          </a:xfrm>
          <a:prstGeom prst="rect">
            <a:avLst/>
          </a:prstGeom>
          <a:solidFill>
            <a:srgbClr val="FE5200"/>
          </a:solidFill>
          <a:ln/>
        </p:spPr>
      </p:sp>
      <p:sp>
        <p:nvSpPr>
          <p:cNvPr id="11" name="Text 9"/>
          <p:cNvSpPr/>
          <p:nvPr/>
        </p:nvSpPr>
        <p:spPr>
          <a:xfrm>
            <a:off x="5170516" y="1629295"/>
            <a:ext cx="3374967" cy="13632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— SIMULATED WORKFLOW, FICTIONAL DATA
</a:t>
            </a:r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$2.18M draw on a $42.8M project is blocked on an open change order and an unapproved lien waiver, then authorized after both resolve — with the full audit timeline recorded.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170516" y="3092335"/>
            <a:ext cx="3374967" cy="1105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— PUBLISHED VEKTRUM SCENARIO, NOT CUSTOMER DATA
</a:t>
            </a:r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$15K dispute on a $9M project locks one milestone — the other milestones keep releasing.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70516" y="4256116"/>
            <a:ext cx="3374967" cy="332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Vektrum governs authorization; the selected rail executes. Stripe Connect is one supported execution rail.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2015" y="1546167"/>
            <a:ext cx="1828800" cy="119703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5265" y="1579418"/>
            <a:ext cx="1795549" cy="1163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Purpose-built release governance: </a:t>
            </a:r>
            <a:pPr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deterministic 10-condition gate enforced in UI, API, and database — not a tracking checklist.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2593571" y="1546167"/>
            <a:ext cx="1828800" cy="119703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2626822" y="1579418"/>
            <a:ext cx="1795549" cy="1163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Complementary by design: </a:t>
            </a:r>
            <a:pPr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non-custodial and rail-neutral — adds enforcement without touching Procore’s lane or the customer’s payment stack.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32015" y="3000895"/>
            <a:ext cx="1828800" cy="119703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565265" y="3034145"/>
            <a:ext cx="1795549" cy="1163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Evidence-grade audit: </a:t>
            </a:r>
            <a:pPr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append-only, hash-chained, tamper-evident records of every pass and block.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593571" y="3000895"/>
            <a:ext cx="1828800" cy="119703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2626822" y="3034145"/>
            <a:ext cx="1795549" cy="1163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Disciplined AI: </a:t>
            </a:r>
            <a:pPr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 pre-review flags risk; the deterministic gate decides — AI never approves a release.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954385" y="1762298"/>
            <a:ext cx="3840480" cy="1064029"/>
          </a:xfrm>
          <a:prstGeom prst="rect">
            <a:avLst/>
          </a:prstGeom>
          <a:solidFill>
            <a:srgbClr val="ECDFD6"/>
          </a:solidFill>
          <a:ln/>
        </p:spPr>
      </p:sp>
      <p:sp>
        <p:nvSpPr>
          <p:cNvPr id="11" name="Text 9"/>
          <p:cNvSpPr/>
          <p:nvPr/>
        </p:nvSpPr>
        <p:spPr>
          <a:xfrm>
            <a:off x="4987636" y="1812175"/>
            <a:ext cx="3773978" cy="332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E5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 </a:t>
            </a:r>
            <a:pPr indent="0" marL="0">
              <a:buNone/>
            </a:pPr>
            <a:r>
              <a:rPr lang="en-US" sz="950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the proposed integration workflow with Procore’s Technology Partner team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987636" y="2161309"/>
            <a:ext cx="3773978" cy="332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E5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 </a:t>
            </a:r>
            <a:pPr indent="0" marL="0">
              <a:buNone/>
            </a:pPr>
            <a:r>
              <a:rPr lang="en-US" sz="950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the sandbox connectivity in place (read-only Procore Developer Sandbox OAuth) and define supported read objects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987636" y="2510444"/>
            <a:ext cx="3773978" cy="332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E5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 </a:t>
            </a:r>
            <a:pPr indent="0" marL="0">
              <a:buNone/>
            </a:pPr>
            <a:r>
              <a:rPr lang="en-US" sz="950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a joint design-partner pilot and pursue Marketplace readiness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954385" y="3175462"/>
            <a:ext cx="3840480" cy="980902"/>
          </a:xfrm>
          <a:prstGeom prst="rect">
            <a:avLst/>
          </a:prstGeom>
          <a:solidFill>
            <a:srgbClr val="ECDFD6"/>
          </a:solidFill>
          <a:ln/>
        </p:spPr>
      </p:sp>
      <p:sp>
        <p:nvSpPr>
          <p:cNvPr id="15" name="Text 13"/>
          <p:cNvSpPr/>
          <p:nvPr/>
        </p:nvSpPr>
        <p:spPr>
          <a:xfrm>
            <a:off x="4987636" y="3225338"/>
            <a:ext cx="3773978" cy="2992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E5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 </a:t>
            </a:r>
            <a:pPr indent="0" marL="0">
              <a:buNone/>
            </a:pPr>
            <a:r>
              <a:rPr lang="en-US" sz="950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 through the simulated joint workflow at vektrum.io/demo-live/procore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987636" y="3524596"/>
            <a:ext cx="3773978" cy="2992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E5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 </a:t>
            </a:r>
            <a:pPr indent="0" marL="0">
              <a:buNone/>
            </a:pPr>
            <a:r>
              <a:rPr lang="en-US" sz="950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 one upcoming lender-funded draw as a design-partner scenario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987636" y="3823855"/>
            <a:ext cx="3773978" cy="2992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E5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 </a:t>
            </a:r>
            <a:pPr indent="0" marL="0">
              <a:buNone/>
            </a:pPr>
            <a:r>
              <a:rPr lang="en-US" sz="950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operations@vektrum.io to set up a working session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52902" y="1795549"/>
            <a:ext cx="3241964" cy="11139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586153" y="1837113"/>
            <a:ext cx="3192087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FE5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 </a:t>
            </a:r>
            <a:pPr indent="0" marL="0">
              <a:buNone/>
            </a:pPr>
            <a:r>
              <a:rPr lang="en-US" sz="850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Vektrum: </a:t>
            </a:r>
            <a:pPr indent="0" marL="0">
              <a:buNone/>
            </a:pPr>
            <a:r>
              <a:rPr lang="en-US" sz="8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vektrum.io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586153" y="2053244"/>
            <a:ext cx="3192087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FE5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 </a:t>
            </a:r>
            <a:pPr indent="0" marL="0">
              <a:buNone/>
            </a:pPr>
            <a:r>
              <a:rPr lang="en-US" sz="850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Simulated joint workflow: </a:t>
            </a:r>
            <a:pPr indent="0" marL="0">
              <a:buNone/>
            </a:pPr>
            <a:r>
              <a:rPr lang="en-US" sz="8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vektrum.io/demo-live/procore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586153" y="2269375"/>
            <a:ext cx="3192087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FE5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 </a:t>
            </a:r>
            <a:pPr indent="0" marL="0">
              <a:buNone/>
            </a:pPr>
            <a:r>
              <a:rPr lang="en-US" sz="850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overview: </a:t>
            </a:r>
            <a:pPr indent="0" marL="0">
              <a:buNone/>
            </a:pPr>
            <a:r>
              <a:rPr lang="en-US" sz="8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vektrum.io/security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586153" y="2485505"/>
            <a:ext cx="3192087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FE5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 </a:t>
            </a:r>
            <a:pPr indent="0" marL="0">
              <a:buNone/>
            </a:pPr>
            <a:r>
              <a:rPr lang="en-US" sz="850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Milestone-dispute isolation: </a:t>
            </a:r>
            <a:pPr indent="0" marL="0">
              <a:buNone/>
            </a:pPr>
            <a:r>
              <a:rPr lang="en-US" sz="8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vektrum.io/resources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586153" y="2701636"/>
            <a:ext cx="3192087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FE5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 </a:t>
            </a:r>
            <a:pPr indent="0" marL="0">
              <a:buNone/>
            </a:pPr>
            <a:r>
              <a:rPr lang="en-US" sz="850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Procore Marketplace (no Vektrum listing yet): </a:t>
            </a:r>
            <a:pPr indent="0" marL="0">
              <a:buNone/>
            </a:pPr>
            <a:r>
              <a:rPr lang="en-US" sz="8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marketplace.procore.com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552902" y="3341716"/>
            <a:ext cx="3241964" cy="24938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5586153" y="3374967"/>
            <a:ext cx="3175462" cy="199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E5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 </a:t>
            </a:r>
            <a:pPr indent="0" marL="0">
              <a:buNone/>
            </a:pPr>
            <a:r>
              <a:rPr lang="en-US" sz="1000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operations@vektrum.io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4056611"/>
            <a:ext cx="3906982" cy="648393"/>
          </a:xfrm>
          <a:prstGeom prst="rect">
            <a:avLst/>
          </a:prstGeom>
          <a:solidFill>
            <a:srgbClr val="ECDFD6"/>
          </a:solidFill>
          <a:ln/>
        </p:spPr>
      </p:sp>
      <p:sp>
        <p:nvSpPr>
          <p:cNvPr id="11" name="Text 9"/>
          <p:cNvSpPr/>
          <p:nvPr/>
        </p:nvSpPr>
        <p:spPr>
          <a:xfrm>
            <a:off x="4862945" y="4139738"/>
            <a:ext cx="3699164" cy="515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Vektrum
</a:t>
            </a:r>
            <a:pPr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operations@vektrum.io  ·  named alliances contact to be supplied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88873" y="182880"/>
            <a:ext cx="4114800" cy="548640"/>
          </a:xfrm>
          <a:prstGeom prst="rect">
            <a:avLst/>
          </a:prstGeom>
          <a:solidFill>
            <a:srgbClr val="ECDFD6"/>
          </a:solidFill>
          <a:ln/>
        </p:spPr>
      </p:sp>
      <p:sp>
        <p:nvSpPr>
          <p:cNvPr id="3" name="Text 1"/>
          <p:cNvSpPr/>
          <p:nvPr/>
        </p:nvSpPr>
        <p:spPr>
          <a:xfrm>
            <a:off x="4530436" y="282633"/>
            <a:ext cx="4048298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E5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Demo: Simulated Joint Workflow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655127" y="3906982"/>
            <a:ext cx="3616036" cy="831273"/>
          </a:xfrm>
          <a:prstGeom prst="rect">
            <a:avLst/>
          </a:prstGeom>
          <a:solidFill>
            <a:srgbClr val="191919"/>
          </a:solidFill>
          <a:ln/>
        </p:spPr>
      </p:sp>
      <p:sp>
        <p:nvSpPr>
          <p:cNvPr id="5" name="Text 3"/>
          <p:cNvSpPr/>
          <p:nvPr/>
        </p:nvSpPr>
        <p:spPr>
          <a:xfrm>
            <a:off x="4738255" y="3973484"/>
            <a:ext cx="349134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vektrum.io/demo-live/procore
</a:t>
            </a:r>
            <a:pPr algn="ctr" indent="0" marL="0">
              <a:buNone/>
            </a:pPr>
            <a:r>
              <a:rPr lang="en-US" sz="850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Simulated integration concept — fictional demo data only. No external system is connected and no funds are moved.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Better Together: Vektrum + Procore</dc:title>
  <dc:subject>PptxGenJS Presentation</dc:subject>
  <dc:creator>Vektrum</dc:creator>
  <cp:lastModifiedBy>Vektrum</cp:lastModifiedBy>
  <cp:revision>1</cp:revision>
  <dcterms:created xsi:type="dcterms:W3CDTF">2026-07-27T19:46:26Z</dcterms:created>
  <dcterms:modified xsi:type="dcterms:W3CDTF">2026-07-27T19:46:26Z</dcterms:modified>
</cp:coreProperties>
</file>