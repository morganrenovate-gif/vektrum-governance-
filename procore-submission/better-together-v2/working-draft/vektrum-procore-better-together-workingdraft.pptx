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170432"/>
            <a:ext cx="566928" cy="512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15968" y="1170432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053328" y="117043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492240" y="1170432"/>
            <a:ext cx="205740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9FB0CC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6492240" y="117043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Procore logo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(insert official asset)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14400" y="2212848"/>
            <a:ext cx="10360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Together: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 + Procore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554480" y="3931920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Procore keeps the project record. Vektrum adds enforceable release governance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construction funds are disbursed.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5138928"/>
            <a:ext cx="907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CONDITIONAL AUTHORIZATION INFRASTRUCTURE FOR CONSTRUCTION DISBURSEMENTS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54480" y="5532120"/>
            <a:ext cx="907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is separated from execution. Vektrum does not hold or move funds.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65653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DRAFT — not the official Procore template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031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3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SOLUTION + PROCORE · KEY MESSAGE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Procore shows what happened on the project.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 enforces what must be true before the money is released.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THIS IS FOR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697480"/>
            <a:ext cx="438912" cy="438912"/>
          </a:xfrm>
          <a:prstGeom prst="ellipse">
            <a:avLst/>
          </a:prstGeom>
          <a:solidFill>
            <a:srgbClr val="E8EDF8"/>
          </a:solidFill>
          <a:ln w="12700">
            <a:solidFill>
              <a:srgbClr val="1A3A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53312" y="2441448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lenders &amp; private-credit funds
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Administering draws on projects their contractors already run in Procore — the primary buyer.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023360"/>
            <a:ext cx="438912" cy="438912"/>
          </a:xfrm>
          <a:prstGeom prst="ellipse">
            <a:avLst/>
          </a:prstGeom>
          <a:solidFill>
            <a:srgbClr val="E8EDF8"/>
          </a:solidFill>
          <a:ln w="12700">
            <a:solidFill>
              <a:srgbClr val="1A3A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53312" y="3767328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&amp; developers
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fund control on Procore-managed projects.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983480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5349240"/>
            <a:ext cx="438912" cy="438912"/>
          </a:xfrm>
          <a:prstGeom prst="ellipse">
            <a:avLst/>
          </a:prstGeom>
          <a:solidFill>
            <a:srgbClr val="E8EDF8"/>
          </a:solidFill>
          <a:ln w="12700">
            <a:solidFill>
              <a:srgbClr val="1A3A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349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53312" y="5093208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escrow &amp; fund-control partners
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disbursements and needing verifiable authorization evidence.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331720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44144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Enforcement, not tracking.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release conditions must pass before authorization — no admin, contractor, or partner can bypass the gate.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657600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76732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by default.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authorization or block lands in an append-only, hash-chained, tamper-evident audit trail.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4983480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509320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rip-and-replace.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 and rail-neutral — keep Procore, and keep your existing payment process.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VEKTRUM + PROCORE · BETTER TOGETHER · WORKING DRAFT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5031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28432" y="65653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DRAFT — not the official Procore template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3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CHALLENGE &amp; JOINT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 evaluates draw evidence against a deterministic release gate and records provable authorization — alongside Procore as the project and cost system of record.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594360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48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EF0F0"/>
          </a:solidFill>
          <a:ln w="9525">
            <a:solidFill>
              <a:srgbClr val="F0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release decision for the capital funding a project too often runs on emailed PDFs and manual sign-off, outside the project record.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594360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EF0F0"/>
          </a:solidFill>
          <a:ln w="9525">
            <a:solidFill>
              <a:srgbClr val="F0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81635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is not enforcement — nothing structurally stops a release when a lien waiver is missing or a change order is still open.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02920" y="3767328"/>
            <a:ext cx="594360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4096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EF0F0"/>
          </a:solidFill>
          <a:ln w="9525">
            <a:solidFill>
              <a:srgbClr val="F0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840480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auditors or LPs ask who authorized a release and on what basis, the evidence is scattered across inboxes.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812280" y="1371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3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JOINT SOLUTION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1719072"/>
            <a:ext cx="4873752" cy="896112"/>
          </a:xfrm>
          <a:prstGeom prst="roundRect">
            <a:avLst>
              <a:gd name="adj" fmla="val 9184"/>
            </a:avLst>
          </a:prstGeom>
          <a:solidFill>
            <a:srgbClr val="E8EDF8"/>
          </a:solidFill>
          <a:ln w="12700">
            <a:solidFill>
              <a:srgbClr val="A8B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179222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evidence meets enforced release conditions.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12280" y="2743200"/>
            <a:ext cx="4873752" cy="896112"/>
          </a:xfrm>
          <a:prstGeom prst="roundRect">
            <a:avLst>
              <a:gd name="adj" fmla="val 9184"/>
            </a:avLst>
          </a:prstGeom>
          <a:solidFill>
            <a:srgbClr val="E8EDF8"/>
          </a:solidFill>
          <a:ln w="12700">
            <a:solidFill>
              <a:srgbClr val="A8BA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281635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draws show exactly what's missing.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812280" y="3767328"/>
            <a:ext cx="4873752" cy="896112"/>
          </a:xfrm>
          <a:prstGeom prst="roundRect">
            <a:avLst>
              <a:gd name="adj" fmla="val 9184"/>
            </a:avLst>
          </a:prstGeom>
          <a:solidFill>
            <a:srgbClr val="E8EDF8"/>
          </a:solidFill>
          <a:ln w="12700">
            <a:solidFill>
              <a:srgbClr val="A8BA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9168" y="384048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 carries provable authorization.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2920" y="47914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JOINT WORKFLOW IN 30 SECONDS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5138928"/>
            <a:ext cx="24871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76072" y="5202936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Procore project &amp; cost records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" y="566928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/ planned feed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71800" y="53035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374136" y="5138928"/>
            <a:ext cx="2487168" cy="822960"/>
          </a:xfrm>
          <a:prstGeom prst="roundRect">
            <a:avLst>
              <a:gd name="adj" fmla="val 8889"/>
            </a:avLst>
          </a:prstGeom>
          <a:solidFill>
            <a:srgbClr val="1A3A96"/>
          </a:solidFill>
          <a:ln w="12700">
            <a:solidFill>
              <a:srgbClr val="1A3A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7288" y="5202936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 10-condition release gate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47288" y="566928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Vektrum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43016" y="53035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245352" y="5138928"/>
            <a:ext cx="2487168" cy="822960"/>
          </a:xfrm>
          <a:prstGeom prst="roundRect">
            <a:avLst>
              <a:gd name="adj" fmla="val 8889"/>
            </a:avLst>
          </a:prstGeom>
          <a:solidFill>
            <a:srgbClr val="1A3A96"/>
          </a:solidFill>
          <a:ln w="12700">
            <a:solidFill>
              <a:srgbClr val="1A3A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5202936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funder decides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18504" y="566928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Vektrum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714232" y="53035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16568" y="5138928"/>
            <a:ext cx="24871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5202936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Customer's payment rail executes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89720" y="566928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Connect or partner process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" y="60533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recorded at every step — every pass and block lands in the tamper-evident audit trail.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VEKTRUM + PROCORE · BETTER TOGETHER · WORKING DRAFT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5031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28432" y="65653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DRAFT — not the official Procore template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3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REAL-WORLD USE CASES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X happens on the project, Y happens before the money moves.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57600" cy="379476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82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Change-order-aware draw readiness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706624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open change order touches a draw's milestone, the release gate blocks that authorization until it is resolved. In the simulated joint workflow, resolving the change order at source clears the block.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48006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 w="9525">
            <a:solidFill>
              <a:srgbClr val="B0DF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LIVE IN VEKTRUM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41448" y="4800600"/>
            <a:ext cx="1536192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4800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PROCORE FEED: SIMULATED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88536" y="1481328"/>
            <a:ext cx="3657600" cy="379476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682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17136" y="20848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Lien-waiver completeness before release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17136" y="2706624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required conditional lien waiver is not yet approved, the gate blocks the draw; when the approved waiver is on file, the gate can pass and the funder can authorize.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17136" y="48006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 w="9525">
            <a:solidFill>
              <a:srgbClr val="B0DF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LIVE IN VEKTRUM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27064" y="4800600"/>
            <a:ext cx="1536192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4800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PROCORE FEED: SIMULATED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74152" y="1481328"/>
            <a:ext cx="3657600" cy="379476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1682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02752" y="20848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isolation with execution proof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02752" y="2706624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milestone is disputed, only that release unit is blocked — unrelated milestones keep moving. When the title or escrow partner executes, its confirmation is recorded against the signed authorization.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02752" y="48006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 w="9525">
            <a:solidFill>
              <a:srgbClr val="B0DF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LIVE IN VEKTRUM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012680" y="4800600"/>
            <a:ext cx="1536192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12680" y="4800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PROCORE FEED: SIMULATED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5541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Release-gate enforcement is live in Vektrum today. The Procore-connected workflow is demonstrated as a simulated concept; production integration is planned.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VEKTRUM + PROCORE · BETTER TOGETHER · WORKING DRAFT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5031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28432" y="65653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DRAFT — not the official Procore template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3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OUTCOMES · ROI &amp; CUSTOMER PROOF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outcomes you can verify — proof labeled for what it is.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QUANTIFIABLE BENEFITS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83664"/>
            <a:ext cx="603504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4767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required conditions, zero exceptions
</a:t>
            </a:r>
            <a:pPr indent="0" marL="0">
              <a:buNone/>
            </a:pPr>
            <a:r>
              <a:rPr lang="en-US" sz="103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 authorization passes the full deterministic gate.  (Internal product metric)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852928"/>
            <a:ext cx="603504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16936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before, not disputed after
</a:t>
            </a:r>
            <a:pPr indent="0" marL="0">
              <a:buNone/>
            </a:pPr>
            <a:r>
              <a:rPr lang="en-US" sz="103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waivers and open change orders stop the affected draw before funds are authorized.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822192"/>
            <a:ext cx="603504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8862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by default
</a:t>
            </a:r>
            <a:pPr indent="0" marL="0">
              <a:buNone/>
            </a:pPr>
            <a:r>
              <a:rPr lang="en-US" sz="103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Exportable, hash-chained evidence for LP reporting, audits, and reviews.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791456"/>
            <a:ext cx="603504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855464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keeps moving under dispute
</a:t>
            </a:r>
            <a:pPr indent="0" marL="0">
              <a:buNone/>
            </a:pPr>
            <a:r>
              <a:rPr lang="en-US" sz="103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Milestone-level isolation blocks one release unit, not the whole project.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12280" y="1517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POINTS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12280" y="1883664"/>
            <a:ext cx="487375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01168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SCENARIO — SIMULATED WORKFLOW, FICTIONAL DATA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040880" y="2450592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$2.18M draw on a $42.8M project is blocked on an open change order and an unapproved lien waiver, then authorized after both resolve — with the full audit timeline recorded.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12280" y="3877056"/>
            <a:ext cx="487375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005072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SCENARIO — PUBLISHED VEKTRUM EXAMPLE, NOT CUSTOMER DATA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40880" y="4443984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$15K dispute on a $9M project locks one milestone — the other milestones keep releasing.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58704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joint-customer metrics yet — the scenarios above are illustrative and labeled; joint pilot data would replace them.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VEKTRUM + PROCORE · BETTER TOGETHER · WORKING DRAFT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5031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28432" y="65653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DRAFT — not the official Procore template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3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WIN TOGETHER &amp; WHAT'S NEXT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5614416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786384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release governance
</a:t>
            </a:r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10-condition gate enforced in UI, API, and database — not a tracking checklist.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352" y="713232"/>
            <a:ext cx="5614416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64808" y="786384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by design
</a:t>
            </a:r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 and rail-neutral: adds enforcement without touching Procore's lane or the customer's payment stack.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614416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99339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Evidence-grade audit
</a:t>
            </a:r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Append-only, hash-chained, tamper-evident records of every pass and block.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920240"/>
            <a:ext cx="5614416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99339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Disciplined AI
</a:t>
            </a:r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pre-review flags risk; the deterministic gate decides — AI never approves a release.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1638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3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PARTNERS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63640" y="31638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3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CUSTOMERS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5413248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776472"/>
            <a:ext cx="274320" cy="274320"/>
          </a:xfrm>
          <a:prstGeom prst="ellipse">
            <a:avLst/>
          </a:prstGeom>
          <a:solidFill>
            <a:srgbClr val="E8EDF8"/>
          </a:solidFill>
          <a:ln w="12700">
            <a:solidFill>
              <a:srgbClr val="1A3A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3575304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proposed integration workflow with Procore's Technology Partner team.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5413248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636008"/>
            <a:ext cx="274320" cy="274320"/>
          </a:xfrm>
          <a:prstGeom prst="ellipse">
            <a:avLst/>
          </a:prstGeom>
          <a:solidFill>
            <a:srgbClr val="E8EDF8"/>
          </a:solidFill>
          <a:ln w="12700">
            <a:solidFill>
              <a:srgbClr val="1A3A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636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" y="4434840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technical review of the sandbox connectivity now in place — OAuth against the Procore Developer Sandbox, read-only by design — and define the supported objects for the read integration.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02920" y="5248656"/>
            <a:ext cx="5413248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495544"/>
            <a:ext cx="274320" cy="274320"/>
          </a:xfrm>
          <a:prstGeom prst="ellipse">
            <a:avLst/>
          </a:prstGeom>
          <a:solidFill>
            <a:srgbClr val="E8EDF8"/>
          </a:solidFill>
          <a:ln w="12700">
            <a:solidFill>
              <a:srgbClr val="1A3A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495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" y="5294376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 joint design-partner pilot on a lender-funded Procore project and pursue Marketplace readiness.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263640" y="3529584"/>
            <a:ext cx="5413248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3776472"/>
            <a:ext cx="274320" cy="274320"/>
          </a:xfrm>
          <a:prstGeom prst="ellipse">
            <a:avLst/>
          </a:prstGeom>
          <a:solidFill>
            <a:srgbClr val="E8EDF8"/>
          </a:solidFill>
          <a:ln w="12700">
            <a:solidFill>
              <a:srgbClr val="1A3A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30568" y="3575304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the simulated joint workflow at vektrum.io/demo-live/procore.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263640" y="4389120"/>
            <a:ext cx="5413248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636008"/>
            <a:ext cx="274320" cy="274320"/>
          </a:xfrm>
          <a:prstGeom prst="ellipse">
            <a:avLst/>
          </a:prstGeom>
          <a:solidFill>
            <a:srgbClr val="E8EDF8"/>
          </a:solidFill>
          <a:ln w="12700">
            <a:solidFill>
              <a:srgbClr val="1A3A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636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30568" y="4434840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one upcoming lender-funded draw as a design-partner scenario.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263640" y="5248656"/>
            <a:ext cx="5413248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5495544"/>
            <a:ext cx="274320" cy="274320"/>
          </a:xfrm>
          <a:prstGeom prst="ellipse">
            <a:avLst/>
          </a:prstGeom>
          <a:solidFill>
            <a:srgbClr val="E8EDF8"/>
          </a:solidFill>
          <a:ln w="12700">
            <a:solidFill>
              <a:srgbClr val="1A3A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495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30568" y="5294376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operations@vektrum.io to set up a working session with your lender and title/escrow partners.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502920" y="610819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Procore Marketplace listing, certification, or endorsement exists today — next steps above are the honest path to them.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VEKTRUM + PROCORE · BETTER TOGETHER · WORKING DRAFT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5031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28432" y="65653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DRAFT — not the official Procore template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45720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Contact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1417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LINKS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810512"/>
            <a:ext cx="6720840" cy="548640"/>
          </a:xfrm>
          <a:prstGeom prst="roundRect">
            <a:avLst>
              <a:gd name="adj" fmla="val 11667"/>
            </a:avLst>
          </a:prstGeom>
          <a:solidFill>
            <a:srgbClr val="111827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8562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   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https://www.vektrum.io/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2468880"/>
            <a:ext cx="6720840" cy="548640"/>
          </a:xfrm>
          <a:prstGeom prst="roundRect">
            <a:avLst>
              <a:gd name="adj" fmla="val 11667"/>
            </a:avLst>
          </a:prstGeom>
          <a:solidFill>
            <a:srgbClr val="111827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joint workflow   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https://www.vektrum.io/demo-live  ·  Procore concept: /demo-live/procore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3127248"/>
            <a:ext cx="6720840" cy="548640"/>
          </a:xfrm>
          <a:prstGeom prst="roundRect">
            <a:avLst>
              <a:gd name="adj" fmla="val 11667"/>
            </a:avLst>
          </a:prstGeom>
          <a:solidFill>
            <a:srgbClr val="111827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31729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overview   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https://www.vektrum.io/security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3785616"/>
            <a:ext cx="6720840" cy="548640"/>
          </a:xfrm>
          <a:prstGeom prst="roundRect">
            <a:avLst>
              <a:gd name="adj" fmla="val 11667"/>
            </a:avLst>
          </a:prstGeom>
          <a:solidFill>
            <a:srgbClr val="111827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38313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Milestone-dispute isolation   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https://www.vektrum.io/resources/construction-dispute-isolation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4443984"/>
            <a:ext cx="6720840" cy="548640"/>
          </a:xfrm>
          <a:prstGeom prst="roundRect">
            <a:avLst>
              <a:gd name="adj" fmla="val 11667"/>
            </a:avLst>
          </a:prstGeom>
          <a:solidFill>
            <a:srgbClr val="111827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44897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Procore Marketplace (general)   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https://marketplace.procore.com/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352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IN TOUCH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635240" y="1810512"/>
            <a:ext cx="4023360" cy="768096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45552" y="188366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Procore Partnerships
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techpartners@procore.com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635240" y="2706624"/>
            <a:ext cx="4023360" cy="768096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5552" y="277977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
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operations@vektrum.io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635240" y="3602736"/>
            <a:ext cx="4023360" cy="768096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45552" y="36758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alliances contact
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be supplied — not yet designated]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02920" y="58064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Vektrum governs authorization; the selected rail executes. Stripe Connect is one supported execution rail.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028432" y="65653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DRAFT — not the official Procore template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Better Together: Vektrum + Procore — WORKING DRAFT</dc:title>
  <dc:subject>PptxGenJS Presentation</dc:subject>
  <dc:creator>Vektrum</dc:creator>
  <cp:lastModifiedBy>Vektrum</cp:lastModifiedBy>
  <cp:revision>1</cp:revision>
  <dcterms:created xsi:type="dcterms:W3CDTF">2026-07-24T20:40:48Z</dcterms:created>
  <dcterms:modified xsi:type="dcterms:W3CDTF">2026-07-24T20:40:48Z</dcterms:modified>
</cp:coreProperties>
</file>