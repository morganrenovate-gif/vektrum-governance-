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Procore is the system of record for the project. Vektrum is the governance layer for the money flowing into it. This isn't another payment tool — it's the verification layer that sits in front of the draw. Non-custodial: we authorize; the funder's rail moves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tracks approvals. Almost no one can point to the control that would have physically stopped a release if a condition failed. That gap — between an approval in Procore and a wire from the lender — is where the losses live. Owners feel it as a lien they didn't see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We are deliberately NOT in Procore Pay's lane or Levelset's lane. We govern the money coming in from the lender or owner. We read Levelset waiver status; we don't replace it. Clean, additive, no overlap — which is exactly what de-risks this for Procore.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one way in, the decision happens in Vektrum, proof flows back. We're read-heavy on Procore and we only add an attachment and a status field. We never mutate your financial system of record — that keeps this low-risk to approve. The connector rides on Vektrum's existing partner-API + HMAC webhook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Procore weights outcomes heavily, so each is a mechanism that's already live in the product, with the number left to fill from customer data. Even without numbers, the mechanism is concrete: a bad draw is refused before money moves, and the proof lands back in Procore.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sweet spot is a Procore GC whose project is funded by an outside lender or owner doing fund control. Procore already has the GC; we bring the lender/fund-control relationship. Same project, two systems, no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motion is natural because our buyer — the lender/owner — is the one party Procore doesn't sell to directly. We expand Procore's surface into the capital stack without touching its payment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governance core is already built and running. The Procore-specific work is a well-scoped connector on top of an integration framework we already ship — OAuth, read sync, then a light write-back. Nothing Procore-facing is live yet, and that's exactly what a feasibility review should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B2A"/>
          </a:solidFill>
          <a:ln/>
        </p:spPr>
      </p:sp>
      <p:sp>
        <p:nvSpPr>
          <p:cNvPr id="3" name="Shape 1"/>
          <p:cNvSpPr/>
          <p:nvPr/>
        </p:nvSpPr>
        <p:spPr>
          <a:xfrm>
            <a:off x="7498080" y="-2011680"/>
            <a:ext cx="7315200" cy="5486400"/>
          </a:xfrm>
          <a:prstGeom prst="ellipse">
            <a:avLst/>
          </a:prstGeom>
          <a:solidFill>
            <a:srgbClr val="1A3A96">
              <a:alpha val="22000"/>
            </a:srgbClr>
          </a:solidFill>
          <a:ln/>
        </p:spPr>
      </p:sp>
      <p:sp>
        <p:nvSpPr>
          <p:cNvPr id="4" name="Shape 2"/>
          <p:cNvSpPr/>
          <p:nvPr/>
        </p:nvSpPr>
        <p:spPr>
          <a:xfrm>
            <a:off x="566928" y="2103120"/>
            <a:ext cx="329184" cy="621792"/>
          </a:xfrm>
          <a:prstGeom prst="line">
            <a:avLst/>
          </a:prstGeom>
          <a:noFill/>
          <a:ln w="40640">
            <a:solidFill>
              <a:srgbClr val="FFFFFF"/>
            </a:solidFill>
            <a:prstDash val="solid"/>
            <a:tailEnd type="none"/>
          </a:ln>
        </p:spPr>
      </p:sp>
      <p:sp>
        <p:nvSpPr>
          <p:cNvPr id="5" name="Shape 3"/>
          <p:cNvSpPr/>
          <p:nvPr/>
        </p:nvSpPr>
        <p:spPr>
          <a:xfrm>
            <a:off x="722376" y="2103120"/>
            <a:ext cx="173736" cy="484632"/>
          </a:xfrm>
          <a:prstGeom prst="line">
            <a:avLst/>
          </a:prstGeom>
          <a:noFill/>
          <a:ln w="27940">
            <a:solidFill>
              <a:srgbClr val="FFFFFF"/>
            </a:solidFill>
            <a:prstDash val="solid"/>
            <a:tailEnd type="none"/>
          </a:ln>
        </p:spPr>
      </p:sp>
      <p:sp>
        <p:nvSpPr>
          <p:cNvPr id="6" name="Shape 4"/>
          <p:cNvSpPr/>
          <p:nvPr/>
        </p:nvSpPr>
        <p:spPr>
          <a:xfrm>
            <a:off x="896112" y="2724912"/>
            <a:ext cx="329184" cy="-621792"/>
          </a:xfrm>
          <a:prstGeom prst="line">
            <a:avLst/>
          </a:prstGeom>
          <a:noFill/>
          <a:ln w="40640">
            <a:solidFill>
              <a:srgbClr val="FFFFFF"/>
            </a:solidFill>
            <a:prstDash val="solid"/>
            <a:tailEnd type="none"/>
          </a:ln>
        </p:spPr>
      </p:sp>
      <p:sp>
        <p:nvSpPr>
          <p:cNvPr id="7" name="Shape 5"/>
          <p:cNvSpPr/>
          <p:nvPr/>
        </p:nvSpPr>
        <p:spPr>
          <a:xfrm>
            <a:off x="896112" y="2587752"/>
            <a:ext cx="219456" cy="-393192"/>
          </a:xfrm>
          <a:prstGeom prst="line">
            <a:avLst/>
          </a:prstGeom>
          <a:noFill/>
          <a:ln w="27940">
            <a:solidFill>
              <a:srgbClr val="FFFFFF"/>
            </a:solidFill>
            <a:prstDash val="solid"/>
            <a:tailEnd type="none"/>
          </a:ln>
        </p:spPr>
      </p:sp>
      <p:sp>
        <p:nvSpPr>
          <p:cNvPr id="8" name="Text 6"/>
          <p:cNvSpPr/>
          <p:nvPr/>
        </p:nvSpPr>
        <p:spPr>
          <a:xfrm>
            <a:off x="566928" y="1417320"/>
            <a:ext cx="7315200" cy="274320"/>
          </a:xfrm>
          <a:prstGeom prst="rect">
            <a:avLst/>
          </a:prstGeom>
          <a:noFill/>
          <a:ln/>
        </p:spPr>
        <p:txBody>
          <a:bodyPr wrap="square" rtlCol="0" anchor="ctr"/>
          <a:lstStyle/>
          <a:p>
            <a:pPr indent="0" marL="0">
              <a:buNone/>
            </a:pPr>
            <a:r>
              <a:rPr lang="en-US" sz="1200" b="1" spc="300" kern="0" dirty="0">
                <a:solidFill>
                  <a:srgbClr val="4E74D8"/>
                </a:solidFill>
                <a:latin typeface="Calibri" pitchFamily="34" charset="0"/>
                <a:ea typeface="Calibri" pitchFamily="34" charset="-122"/>
                <a:cs typeface="Calibri" pitchFamily="34" charset="-120"/>
              </a:rPr>
              <a:t>BETTER TOGETHER</a:t>
            </a:r>
            <a:endParaRPr lang="en-US" sz="1200" dirty="0"/>
          </a:p>
        </p:txBody>
      </p:sp>
      <p:sp>
        <p:nvSpPr>
          <p:cNvPr id="9" name="Text 7"/>
          <p:cNvSpPr/>
          <p:nvPr/>
        </p:nvSpPr>
        <p:spPr>
          <a:xfrm>
            <a:off x="1417320" y="2084832"/>
            <a:ext cx="822960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Vektrum + Procore</a:t>
            </a:r>
            <a:endParaRPr lang="en-US" sz="2400" dirty="0"/>
          </a:p>
        </p:txBody>
      </p:sp>
      <p:sp>
        <p:nvSpPr>
          <p:cNvPr id="10" name="Text 8"/>
          <p:cNvSpPr/>
          <p:nvPr/>
        </p:nvSpPr>
        <p:spPr>
          <a:xfrm>
            <a:off x="548640" y="2880360"/>
            <a:ext cx="10607040" cy="1005840"/>
          </a:xfrm>
          <a:prstGeom prst="rect">
            <a:avLst/>
          </a:prstGeom>
          <a:noFill/>
          <a:ln/>
        </p:spPr>
        <p:txBody>
          <a:bodyPr wrap="square" rtlCol="0" anchor="ctr"/>
          <a:lstStyle/>
          <a:p>
            <a:pPr indent="0" marL="0">
              <a:lnSpc>
                <a:spcPct val="98000"/>
              </a:lnSpc>
              <a:buNone/>
            </a:pPr>
            <a:r>
              <a:rPr lang="en-US" sz="4200" b="1" dirty="0">
                <a:solidFill>
                  <a:srgbClr val="FFFFFF"/>
                </a:solidFill>
                <a:latin typeface="Cambria" pitchFamily="34" charset="0"/>
                <a:ea typeface="Cambria" pitchFamily="34" charset="-122"/>
                <a:cs typeface="Cambria" pitchFamily="34" charset="-120"/>
              </a:rPr>
              <a:t>Governed capital for construction.</a:t>
            </a:r>
            <a:endParaRPr lang="en-US" sz="4200" dirty="0"/>
          </a:p>
        </p:txBody>
      </p:sp>
      <p:sp>
        <p:nvSpPr>
          <p:cNvPr id="11" name="Text 9"/>
          <p:cNvSpPr/>
          <p:nvPr/>
        </p:nvSpPr>
        <p:spPr>
          <a:xfrm>
            <a:off x="566928" y="4114800"/>
            <a:ext cx="8778240" cy="822960"/>
          </a:xfrm>
          <a:prstGeom prst="rect">
            <a:avLst/>
          </a:prstGeom>
          <a:noFill/>
          <a:ln/>
        </p:spPr>
        <p:txBody>
          <a:bodyPr wrap="square" rtlCol="0" anchor="ctr"/>
          <a:lstStyle/>
          <a:p>
            <a:pPr indent="0" marL="0">
              <a:lnSpc>
                <a:spcPct val="105000"/>
              </a:lnSpc>
              <a:buNone/>
            </a:pPr>
            <a:r>
              <a:rPr lang="en-US" sz="1700" dirty="0">
                <a:solidFill>
                  <a:srgbClr val="C7D0E0"/>
                </a:solidFill>
                <a:latin typeface="Calibri" pitchFamily="34" charset="0"/>
                <a:ea typeface="Calibri" pitchFamily="34" charset="-122"/>
                <a:cs typeface="Calibri" pitchFamily="34" charset="-120"/>
              </a:rPr>
              <a:t>Real-time draw verification and disbursement authorization for the capital funding Procore projects.</a:t>
            </a:r>
            <a:endParaRPr lang="en-US" sz="1700" dirty="0"/>
          </a:p>
        </p:txBody>
      </p:sp>
      <p:sp>
        <p:nvSpPr>
          <p:cNvPr id="12" name="Text 10"/>
          <p:cNvSpPr/>
          <p:nvPr/>
        </p:nvSpPr>
        <p:spPr>
          <a:xfrm>
            <a:off x="566928" y="5989320"/>
            <a:ext cx="10058400" cy="274320"/>
          </a:xfrm>
          <a:prstGeom prst="rect">
            <a:avLst/>
          </a:prstGeom>
          <a:noFill/>
          <a:ln/>
        </p:spPr>
        <p:txBody>
          <a:bodyPr wrap="square" rtlCol="0" anchor="ctr"/>
          <a:lstStyle/>
          <a:p>
            <a:pPr indent="0" marL="0">
              <a:buNone/>
            </a:pPr>
            <a:r>
              <a:rPr lang="en-US" sz="1100" dirty="0">
                <a:solidFill>
                  <a:srgbClr val="9FB0CC"/>
                </a:solidFill>
                <a:latin typeface="Calibri" pitchFamily="34" charset="0"/>
                <a:ea typeface="Calibri" pitchFamily="34" charset="-122"/>
                <a:cs typeface="Calibri" pitchFamily="34" charset="-120"/>
              </a:rPr>
              <a:t>Vektrum · Construction Payment Governance Infrastructure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Procore governs the project.</a:t>
            </a:r>
            <a:endParaRPr lang="en-US" sz="3200" dirty="0"/>
          </a:p>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The capital funding it doesn't.</a:t>
            </a:r>
            <a:endParaRPr lang="en-US" sz="3200" dirty="0"/>
          </a:p>
        </p:txBody>
      </p:sp>
      <p:sp>
        <p:nvSpPr>
          <p:cNvPr id="4" name="Shape 2"/>
          <p:cNvSpPr/>
          <p:nvPr/>
        </p:nvSpPr>
        <p:spPr>
          <a:xfrm>
            <a:off x="566928" y="2176272"/>
            <a:ext cx="128016" cy="128016"/>
          </a:xfrm>
          <a:prstGeom prst="roundRect">
            <a:avLst>
              <a:gd name="adj" fmla="val 21429"/>
            </a:avLst>
          </a:prstGeom>
          <a:solidFill>
            <a:srgbClr val="B01C1C"/>
          </a:solidFill>
          <a:ln/>
        </p:spPr>
      </p:sp>
      <p:sp>
        <p:nvSpPr>
          <p:cNvPr id="5" name="Text 3"/>
          <p:cNvSpPr/>
          <p:nvPr/>
        </p:nvSpPr>
        <p:spPr>
          <a:xfrm>
            <a:off x="868680" y="2093976"/>
            <a:ext cx="6309360" cy="36576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Lenders and owners approve draws on email, PDFs, and trust</a:t>
            </a:r>
            <a:endParaRPr lang="en-US" sz="1450" dirty="0"/>
          </a:p>
        </p:txBody>
      </p:sp>
      <p:sp>
        <p:nvSpPr>
          <p:cNvPr id="6" name="Text 4"/>
          <p:cNvSpPr/>
          <p:nvPr/>
        </p:nvSpPr>
        <p:spPr>
          <a:xfrm>
            <a:off x="868680" y="2441448"/>
            <a:ext cx="630936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No real-time, enforced check that release conditions were actually met.</a:t>
            </a:r>
            <a:endParaRPr lang="en-US" sz="1150" dirty="0"/>
          </a:p>
        </p:txBody>
      </p:sp>
      <p:sp>
        <p:nvSpPr>
          <p:cNvPr id="7" name="Shape 5"/>
          <p:cNvSpPr/>
          <p:nvPr/>
        </p:nvSpPr>
        <p:spPr>
          <a:xfrm>
            <a:off x="566928" y="3255264"/>
            <a:ext cx="128016" cy="128016"/>
          </a:xfrm>
          <a:prstGeom prst="roundRect">
            <a:avLst>
              <a:gd name="adj" fmla="val 21429"/>
            </a:avLst>
          </a:prstGeom>
          <a:solidFill>
            <a:srgbClr val="B01C1C"/>
          </a:solidFill>
          <a:ln/>
        </p:spPr>
      </p:sp>
      <p:sp>
        <p:nvSpPr>
          <p:cNvPr id="8" name="Text 6"/>
          <p:cNvSpPr/>
          <p:nvPr/>
        </p:nvSpPr>
        <p:spPr>
          <a:xfrm>
            <a:off x="868680" y="3172968"/>
            <a:ext cx="6309360" cy="36576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Approving a draw ≠ enforcing the conditions behind it</a:t>
            </a:r>
            <a:endParaRPr lang="en-US" sz="1450" dirty="0"/>
          </a:p>
        </p:txBody>
      </p:sp>
      <p:sp>
        <p:nvSpPr>
          <p:cNvPr id="9" name="Text 7"/>
          <p:cNvSpPr/>
          <p:nvPr/>
        </p:nvSpPr>
        <p:spPr>
          <a:xfrm>
            <a:off x="868680" y="3520440"/>
            <a:ext cx="630936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Nothing physically stops a release when a condition quietly fails.</a:t>
            </a:r>
            <a:endParaRPr lang="en-US" sz="1150" dirty="0"/>
          </a:p>
        </p:txBody>
      </p:sp>
      <p:sp>
        <p:nvSpPr>
          <p:cNvPr id="10" name="Shape 8"/>
          <p:cNvSpPr/>
          <p:nvPr/>
        </p:nvSpPr>
        <p:spPr>
          <a:xfrm>
            <a:off x="566928" y="4334256"/>
            <a:ext cx="128016" cy="128016"/>
          </a:xfrm>
          <a:prstGeom prst="roundRect">
            <a:avLst>
              <a:gd name="adj" fmla="val 21429"/>
            </a:avLst>
          </a:prstGeom>
          <a:solidFill>
            <a:srgbClr val="B01C1C"/>
          </a:solidFill>
          <a:ln/>
        </p:spPr>
      </p:sp>
      <p:sp>
        <p:nvSpPr>
          <p:cNvPr id="11" name="Text 9"/>
          <p:cNvSpPr/>
          <p:nvPr/>
        </p:nvSpPr>
        <p:spPr>
          <a:xfrm>
            <a:off x="868680" y="4251960"/>
            <a:ext cx="6309360" cy="36576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The result: lien surprises, draw-fraud exposure, frozen capital</a:t>
            </a:r>
            <a:endParaRPr lang="en-US" sz="1450" dirty="0"/>
          </a:p>
        </p:txBody>
      </p:sp>
      <p:sp>
        <p:nvSpPr>
          <p:cNvPr id="12" name="Text 10"/>
          <p:cNvSpPr/>
          <p:nvPr/>
        </p:nvSpPr>
        <p:spPr>
          <a:xfrm>
            <a:off x="868680" y="4599432"/>
            <a:ext cx="630936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One bad milestone, and the owner inherits a lien they never saw coming.</a:t>
            </a:r>
            <a:endParaRPr lang="en-US" sz="1150" dirty="0"/>
          </a:p>
        </p:txBody>
      </p:sp>
      <p:sp>
        <p:nvSpPr>
          <p:cNvPr id="13" name="Shape 11"/>
          <p:cNvSpPr/>
          <p:nvPr/>
        </p:nvSpPr>
        <p:spPr>
          <a:xfrm>
            <a:off x="7772400" y="2011680"/>
            <a:ext cx="3840480" cy="3246120"/>
          </a:xfrm>
          <a:prstGeom prst="roundRect">
            <a:avLst>
              <a:gd name="adj" fmla="val 2817"/>
            </a:avLst>
          </a:prstGeom>
          <a:solidFill>
            <a:srgbClr val="122132"/>
          </a:solidFill>
          <a:ln w="12700">
            <a:solidFill>
              <a:srgbClr val="33465F"/>
            </a:solidFill>
            <a:prstDash val="solid"/>
          </a:ln>
          <a:effectLst>
            <a:outerShdw sx="100000" sy="100000" kx="0" ky="0" algn="bl" rotWithShape="0" blurRad="101600" dist="25400" dir="5400000">
              <a:srgbClr val="1A2233">
                <a:alpha val="16000"/>
              </a:srgbClr>
            </a:outerShdw>
          </a:effectLst>
        </p:spPr>
      </p:sp>
      <p:sp>
        <p:nvSpPr>
          <p:cNvPr id="14" name="Text 12"/>
          <p:cNvSpPr/>
          <p:nvPr/>
        </p:nvSpPr>
        <p:spPr>
          <a:xfrm>
            <a:off x="8028432" y="2231136"/>
            <a:ext cx="3383280" cy="228600"/>
          </a:xfrm>
          <a:prstGeom prst="rect">
            <a:avLst/>
          </a:prstGeom>
          <a:noFill/>
          <a:ln/>
        </p:spPr>
        <p:txBody>
          <a:bodyPr wrap="square" rtlCol="0" anchor="ctr"/>
          <a:lstStyle/>
          <a:p>
            <a:pPr indent="0" marL="0">
              <a:buNone/>
            </a:pPr>
            <a:r>
              <a:rPr lang="en-US" sz="850" b="1" spc="100" kern="0" dirty="0">
                <a:solidFill>
                  <a:srgbClr val="9FB0CC"/>
                </a:solidFill>
                <a:latin typeface="Calibri" pitchFamily="34" charset="0"/>
                <a:ea typeface="Calibri" pitchFamily="34" charset="-122"/>
                <a:cs typeface="Calibri" pitchFamily="34" charset="-120"/>
              </a:rPr>
              <a:t>RELEASE GATE  ·  MILESTONE 3</a:t>
            </a:r>
            <a:endParaRPr lang="en-US" sz="850" dirty="0"/>
          </a:p>
        </p:txBody>
      </p:sp>
      <p:sp>
        <p:nvSpPr>
          <p:cNvPr id="15" name="Text 13"/>
          <p:cNvSpPr/>
          <p:nvPr/>
        </p:nvSpPr>
        <p:spPr>
          <a:xfrm>
            <a:off x="8028432" y="2468880"/>
            <a:ext cx="338328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$420,000 </a:t>
            </a:r>
            <a:pPr indent="0" marL="0">
              <a:buNone/>
            </a:pPr>
            <a:r>
              <a:rPr lang="en-US" sz="1100" dirty="0">
                <a:solidFill>
                  <a:srgbClr val="9FB0CC"/>
                </a:solidFill>
                <a:latin typeface="Calibri" pitchFamily="34" charset="0"/>
                <a:ea typeface="Calibri" pitchFamily="34" charset="-122"/>
                <a:cs typeface="Calibri" pitchFamily="34" charset="-120"/>
              </a:rPr>
              <a:t>draw</a:t>
            </a:r>
            <a:endParaRPr lang="en-US" sz="2200" dirty="0"/>
          </a:p>
        </p:txBody>
      </p:sp>
      <p:sp>
        <p:nvSpPr>
          <p:cNvPr id="16" name="Text 14"/>
          <p:cNvSpPr/>
          <p:nvPr/>
        </p:nvSpPr>
        <p:spPr>
          <a:xfrm>
            <a:off x="8028432" y="3063240"/>
            <a:ext cx="3383280" cy="1280160"/>
          </a:xfrm>
          <a:prstGeom prst="rect">
            <a:avLst/>
          </a:prstGeom>
          <a:noFill/>
          <a:ln/>
        </p:spPr>
        <p:txBody>
          <a:bodyPr wrap="square" lIns="0" tIns="0" rIns="0" bIns="0" rtlCol="0" anchor="ctr"/>
          <a:lstStyle/>
          <a:p>
            <a:pPr indent="0" marL="0">
              <a:lnSpc>
                <a:spcPct val="125000"/>
              </a:lnSpc>
              <a:buNone/>
            </a:pPr>
            <a:r>
              <a:rPr lang="en-US" sz="1100" dirty="0">
                <a:solidFill>
                  <a:srgbClr val="7DD6A6"/>
                </a:solidFill>
                <a:latin typeface="Calibri" pitchFamily="34" charset="0"/>
                <a:ea typeface="Calibri" pitchFamily="34" charset="-122"/>
                <a:cs typeface="Calibri" pitchFamily="34" charset="-120"/>
              </a:rPr>
              <a:t>✓  Milestone approved by funder</a:t>
            </a:r>
            <a:pPr indent="0" marL="0">
              <a:lnSpc>
                <a:spcPct val="125000"/>
              </a:lnSpc>
              <a:buNone/>
            </a:pPr>
            <a:r>
              <a:rPr lang="en-US" sz="1100" dirty="0">
                <a:solidFill>
                  <a:srgbClr val="7DD6A6"/>
                </a:solidFill>
                <a:latin typeface="Calibri" pitchFamily="34" charset="0"/>
                <a:ea typeface="Calibri" pitchFamily="34" charset="-122"/>
                <a:cs typeface="Calibri" pitchFamily="34" charset="-120"/>
              </a:rPr>
              <a:t>✓  Signed contract on file</a:t>
            </a:r>
            <a:pPr indent="0" marL="0">
              <a:lnSpc>
                <a:spcPct val="125000"/>
              </a:lnSpc>
              <a:buNone/>
            </a:pPr>
            <a:r>
              <a:rPr lang="en-US" sz="1100" dirty="0">
                <a:solidFill>
                  <a:srgbClr val="7DD6A6"/>
                </a:solidFill>
                <a:latin typeface="Calibri" pitchFamily="34" charset="0"/>
                <a:ea typeface="Calibri" pitchFamily="34" charset="-122"/>
                <a:cs typeface="Calibri" pitchFamily="34" charset="-120"/>
              </a:rPr>
              <a:t>✓  Funding confirmed · no change orders</a:t>
            </a:r>
            <a:pPr indent="0" marL="0">
              <a:lnSpc>
                <a:spcPct val="125000"/>
              </a:lnSpc>
              <a:buNone/>
            </a:pPr>
            <a:r>
              <a:rPr lang="en-US" sz="1100" b="1" dirty="0">
                <a:solidFill>
                  <a:srgbClr val="FF9B9B"/>
                </a:solidFill>
                <a:latin typeface="Calibri" pitchFamily="34" charset="0"/>
                <a:ea typeface="Calibri" pitchFamily="34" charset="-122"/>
                <a:cs typeface="Calibri" pitchFamily="34" charset="-120"/>
              </a:rPr>
              <a:t>✕  Conditional lien waiver — not on file</a:t>
            </a:r>
            <a:endParaRPr lang="en-US" sz="1100" dirty="0"/>
          </a:p>
        </p:txBody>
      </p:sp>
      <p:sp>
        <p:nvSpPr>
          <p:cNvPr id="17" name="Shape 15"/>
          <p:cNvSpPr/>
          <p:nvPr/>
        </p:nvSpPr>
        <p:spPr>
          <a:xfrm>
            <a:off x="8028432" y="4498848"/>
            <a:ext cx="3328416" cy="566928"/>
          </a:xfrm>
          <a:prstGeom prst="roundRect">
            <a:avLst>
              <a:gd name="adj" fmla="val 9677"/>
            </a:avLst>
          </a:prstGeom>
          <a:solidFill>
            <a:srgbClr val="3A1417"/>
          </a:solidFill>
          <a:ln w="12700">
            <a:solidFill>
              <a:srgbClr val="7A2A2A"/>
            </a:solidFill>
            <a:prstDash val="solid"/>
          </a:ln>
        </p:spPr>
      </p:sp>
      <p:sp>
        <p:nvSpPr>
          <p:cNvPr id="18" name="Text 16"/>
          <p:cNvSpPr/>
          <p:nvPr/>
        </p:nvSpPr>
        <p:spPr>
          <a:xfrm>
            <a:off x="8156448" y="4572000"/>
            <a:ext cx="2286000" cy="411480"/>
          </a:xfrm>
          <a:prstGeom prst="rect">
            <a:avLst/>
          </a:prstGeom>
          <a:noFill/>
          <a:ln/>
        </p:spPr>
        <p:txBody>
          <a:bodyPr wrap="square" lIns="0" tIns="0" rIns="0" bIns="0" rtlCol="0" anchor="ctr"/>
          <a:lstStyle/>
          <a:p>
            <a:pPr indent="0" marL="0">
              <a:buNone/>
            </a:pPr>
            <a:r>
              <a:rPr lang="en-US" sz="1400" b="1" dirty="0">
                <a:solidFill>
                  <a:srgbClr val="FF9B9B"/>
                </a:solidFill>
                <a:latin typeface="Calibri" pitchFamily="34" charset="0"/>
                <a:ea typeface="Calibri" pitchFamily="34" charset="-122"/>
                <a:cs typeface="Calibri" pitchFamily="34" charset="-120"/>
              </a:rPr>
              <a:t>🔒  RELEASE BLOCKED</a:t>
            </a:r>
            <a:endParaRPr lang="en-US" sz="1400" dirty="0"/>
          </a:p>
        </p:txBody>
      </p:sp>
      <p:sp>
        <p:nvSpPr>
          <p:cNvPr id="19" name="Text 17"/>
          <p:cNvSpPr/>
          <p:nvPr/>
        </p:nvSpPr>
        <p:spPr>
          <a:xfrm>
            <a:off x="10241280" y="4553712"/>
            <a:ext cx="1234440" cy="457200"/>
          </a:xfrm>
          <a:prstGeom prst="rect">
            <a:avLst/>
          </a:prstGeom>
          <a:noFill/>
          <a:ln/>
        </p:spPr>
        <p:txBody>
          <a:bodyPr wrap="square" lIns="0" tIns="0" rIns="0" bIns="0" rtlCol="0" anchor="ctr"/>
          <a:lstStyle/>
          <a:p>
            <a:pPr algn="r" indent="0" marL="0">
              <a:buNone/>
            </a:pPr>
            <a:r>
              <a:rPr lang="en-US" sz="800" dirty="0">
                <a:solidFill>
                  <a:srgbClr val="C7D0E0"/>
                </a:solidFill>
                <a:latin typeface="Calibri" pitchFamily="34" charset="0"/>
                <a:ea typeface="Calibri" pitchFamily="34" charset="-122"/>
                <a:cs typeface="Calibri" pitchFamily="34" charset="-120"/>
              </a:rPr>
              <a:t>1 of 10</a:t>
            </a:r>
            <a:endParaRPr lang="en-US" sz="800" dirty="0"/>
          </a:p>
          <a:p>
            <a:pPr algn="r" indent="0" marL="0">
              <a:buNone/>
            </a:pPr>
            <a:r>
              <a:rPr lang="en-US" sz="800" dirty="0">
                <a:solidFill>
                  <a:srgbClr val="C7D0E0"/>
                </a:solidFill>
                <a:latin typeface="Calibri" pitchFamily="34" charset="0"/>
                <a:ea typeface="Calibri" pitchFamily="34" charset="-122"/>
                <a:cs typeface="Calibri" pitchFamily="34" charset="-120"/>
              </a:rPr>
              <a:t>conditions failed</a:t>
            </a:r>
            <a:endParaRPr lang="en-US" sz="800" dirty="0"/>
          </a:p>
        </p:txBody>
      </p:sp>
      <p:sp>
        <p:nvSpPr>
          <p:cNvPr id="20" name="Text 18"/>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21" name="Text 19"/>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THE BOUNDARY</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Two platforms. One clean boundary.</a:t>
            </a:r>
            <a:endParaRPr lang="en-US" sz="3200" dirty="0"/>
          </a:p>
        </p:txBody>
      </p:sp>
      <p:sp>
        <p:nvSpPr>
          <p:cNvPr id="4" name="Shape 2"/>
          <p:cNvSpPr/>
          <p:nvPr/>
        </p:nvSpPr>
        <p:spPr>
          <a:xfrm>
            <a:off x="548640" y="1920240"/>
            <a:ext cx="5394960" cy="3566160"/>
          </a:xfrm>
          <a:prstGeom prst="roundRect">
            <a:avLst>
              <a:gd name="adj" fmla="val 2051"/>
            </a:avLst>
          </a:prstGeom>
          <a:solidFill>
            <a:srgbClr val="FBEBDD"/>
          </a:solidFill>
          <a:ln w="12700">
            <a:solidFill>
              <a:srgbClr val="D9621C"/>
            </a:solidFill>
            <a:prstDash val="solid"/>
          </a:ln>
          <a:effectLst>
            <a:outerShdw sx="100000" sy="100000" kx="0" ky="0" algn="bl" rotWithShape="0" blurRad="101600" dist="25400" dir="5400000">
              <a:srgbClr val="1A2233">
                <a:alpha val="16000"/>
              </a:srgbClr>
            </a:outerShdw>
          </a:effectLst>
        </p:spPr>
      </p:sp>
      <p:sp>
        <p:nvSpPr>
          <p:cNvPr id="5" name="Text 3"/>
          <p:cNvSpPr/>
          <p:nvPr/>
        </p:nvSpPr>
        <p:spPr>
          <a:xfrm>
            <a:off x="822960" y="2148840"/>
            <a:ext cx="4846320" cy="320040"/>
          </a:xfrm>
          <a:prstGeom prst="rect">
            <a:avLst/>
          </a:prstGeom>
          <a:noFill/>
          <a:ln/>
        </p:spPr>
        <p:txBody>
          <a:bodyPr wrap="square" rtlCol="0" anchor="ctr"/>
          <a:lstStyle/>
          <a:p>
            <a:pPr indent="0" marL="0">
              <a:buNone/>
            </a:pPr>
            <a:r>
              <a:rPr lang="en-US" sz="1300" b="1" spc="150" kern="0" dirty="0">
                <a:solidFill>
                  <a:srgbClr val="D9621C"/>
                </a:solidFill>
                <a:latin typeface="Calibri" pitchFamily="34" charset="0"/>
                <a:ea typeface="Calibri" pitchFamily="34" charset="-122"/>
                <a:cs typeface="Calibri" pitchFamily="34" charset="-120"/>
              </a:rPr>
              <a:t>PROCORE OWNS</a:t>
            </a:r>
            <a:endParaRPr lang="en-US" sz="1300" dirty="0"/>
          </a:p>
        </p:txBody>
      </p:sp>
      <p:sp>
        <p:nvSpPr>
          <p:cNvPr id="6" name="Text 4"/>
          <p:cNvSpPr/>
          <p:nvPr/>
        </p:nvSpPr>
        <p:spPr>
          <a:xfrm>
            <a:off x="822960" y="2606040"/>
            <a:ext cx="4846320" cy="2743200"/>
          </a:xfrm>
          <a:prstGeom prst="rect">
            <a:avLst/>
          </a:prstGeom>
          <a:noFill/>
          <a:ln/>
        </p:spPr>
        <p:txBody>
          <a:bodyPr wrap="square" lIns="0" tIns="0" rIns="0" bIns="0" rtlCol="0" anchor="ctr"/>
          <a:lstStyle/>
          <a:p>
            <a:pPr marL="177800" indent="-177800">
              <a:lnSpc>
                <a:spcPct val="128000"/>
              </a:lnSpc>
              <a:spcAft>
                <a:spcPts val="600"/>
              </a:spcAft>
              <a:buSzPct val="100000"/>
              <a:buChar char="•"/>
            </a:pPr>
            <a:r>
              <a:rPr lang="en-US" sz="1400" dirty="0">
                <a:solidFill>
                  <a:srgbClr val="141414"/>
                </a:solidFill>
                <a:latin typeface="Calibri" pitchFamily="34" charset="0"/>
                <a:ea typeface="Calibri" pitchFamily="34" charset="-122"/>
                <a:cs typeface="Calibri" pitchFamily="34" charset="-120"/>
              </a:rPr>
              <a:t>Project system of record</a:t>
            </a:r>
            <a:pPr indent="0" marL="0">
              <a:lnSpc>
                <a:spcPct val="128000"/>
              </a:lnSpc>
              <a:spcAft>
                <a:spcPts val="600"/>
              </a:spcAft>
              <a:buNone/>
            </a:pPr>
            <a:r>
              <a:rPr lang="en-US" sz="1400" dirty="0">
                <a:solidFill>
                  <a:srgbClr val="141414"/>
                </a:solidFill>
                <a:latin typeface="Calibri" pitchFamily="34" charset="0"/>
                <a:ea typeface="Calibri" pitchFamily="34" charset="-122"/>
                <a:cs typeface="Calibri" pitchFamily="34" charset="-120"/>
              </a:rPr>
              <a:t>Prime Contract · SOV · Change Orders</a:t>
            </a:r>
            <a:pPr indent="0" marL="0">
              <a:lnSpc>
                <a:spcPct val="128000"/>
              </a:lnSpc>
              <a:spcAft>
                <a:spcPts val="600"/>
              </a:spcAft>
              <a:buNone/>
            </a:pPr>
            <a:r>
              <a:rPr lang="en-US" sz="1400" dirty="0">
                <a:solidFill>
                  <a:srgbClr val="141414"/>
                </a:solidFill>
                <a:latin typeface="Calibri" pitchFamily="34" charset="0"/>
                <a:ea typeface="Calibri" pitchFamily="34" charset="-122"/>
                <a:cs typeface="Calibri" pitchFamily="34" charset="-120"/>
              </a:rPr>
              <a:t>Documents · Photos · RFIs</a:t>
            </a:r>
            <a:pPr indent="0" marL="0">
              <a:lnSpc>
                <a:spcPct val="128000"/>
              </a:lnSpc>
              <a:spcAft>
                <a:spcPts val="600"/>
              </a:spcAft>
              <a:buNone/>
            </a:pPr>
            <a:r>
              <a:rPr lang="en-US" sz="1400" b="1" dirty="0">
                <a:solidFill>
                  <a:srgbClr val="141414"/>
                </a:solidFill>
                <a:latin typeface="Calibri" pitchFamily="34" charset="0"/>
                <a:ea typeface="Calibri" pitchFamily="34" charset="-122"/>
                <a:cs typeface="Calibri" pitchFamily="34" charset="-120"/>
              </a:rPr>
              <a:t>Procore Pay — GC → Sub payment</a:t>
            </a:r>
            <a:pPr indent="0" marL="0">
              <a:lnSpc>
                <a:spcPct val="128000"/>
              </a:lnSpc>
              <a:spcAft>
                <a:spcPts val="600"/>
              </a:spcAft>
              <a:buNone/>
            </a:pPr>
            <a:r>
              <a:rPr lang="en-US" sz="1400" b="1" dirty="0">
                <a:solidFill>
                  <a:srgbClr val="141414"/>
                </a:solidFill>
                <a:latin typeface="Calibri" pitchFamily="34" charset="0"/>
                <a:ea typeface="Calibri" pitchFamily="34" charset="-122"/>
                <a:cs typeface="Calibri" pitchFamily="34" charset="-120"/>
              </a:rPr>
              <a:t>Levelset — lien-waiver management</a:t>
            </a:r>
            <a:endParaRPr lang="en-US" sz="1400" dirty="0"/>
          </a:p>
        </p:txBody>
      </p:sp>
      <p:sp>
        <p:nvSpPr>
          <p:cNvPr id="7" name="Shape 5"/>
          <p:cNvSpPr/>
          <p:nvPr/>
        </p:nvSpPr>
        <p:spPr>
          <a:xfrm>
            <a:off x="6245352" y="1920240"/>
            <a:ext cx="5394960" cy="3566160"/>
          </a:xfrm>
          <a:prstGeom prst="roundRect">
            <a:avLst>
              <a:gd name="adj" fmla="val 2051"/>
            </a:avLst>
          </a:prstGeom>
          <a:solidFill>
            <a:srgbClr val="E8EDF8"/>
          </a:solidFill>
          <a:ln w="12700">
            <a:solidFill>
              <a:srgbClr val="1A3A96"/>
            </a:solidFill>
            <a:prstDash val="solid"/>
          </a:ln>
          <a:effectLst>
            <a:outerShdw sx="100000" sy="100000" kx="0" ky="0" algn="bl" rotWithShape="0" blurRad="101600" dist="25400" dir="5400000">
              <a:srgbClr val="1A2233">
                <a:alpha val="16000"/>
              </a:srgbClr>
            </a:outerShdw>
          </a:effectLst>
        </p:spPr>
      </p:sp>
      <p:sp>
        <p:nvSpPr>
          <p:cNvPr id="8" name="Text 6"/>
          <p:cNvSpPr/>
          <p:nvPr/>
        </p:nvSpPr>
        <p:spPr>
          <a:xfrm>
            <a:off x="6519672" y="2148840"/>
            <a:ext cx="4846320" cy="320040"/>
          </a:xfrm>
          <a:prstGeom prst="rect">
            <a:avLst/>
          </a:prstGeom>
          <a:noFill/>
          <a:ln/>
        </p:spPr>
        <p:txBody>
          <a:bodyPr wrap="square" rtlCol="0" anchor="ctr"/>
          <a:lstStyle/>
          <a:p>
            <a:pPr indent="0" marL="0">
              <a:buNone/>
            </a:pPr>
            <a:r>
              <a:rPr lang="en-US" sz="1300" b="1" spc="150" kern="0" dirty="0">
                <a:solidFill>
                  <a:srgbClr val="1A3A96"/>
                </a:solidFill>
                <a:latin typeface="Calibri" pitchFamily="34" charset="0"/>
                <a:ea typeface="Calibri" pitchFamily="34" charset="-122"/>
                <a:cs typeface="Calibri" pitchFamily="34" charset="-120"/>
              </a:rPr>
              <a:t>VEKTRUM OWNS</a:t>
            </a:r>
            <a:endParaRPr lang="en-US" sz="1300" dirty="0"/>
          </a:p>
        </p:txBody>
      </p:sp>
      <p:sp>
        <p:nvSpPr>
          <p:cNvPr id="9" name="Text 7"/>
          <p:cNvSpPr/>
          <p:nvPr/>
        </p:nvSpPr>
        <p:spPr>
          <a:xfrm>
            <a:off x="6519672" y="2606040"/>
            <a:ext cx="4846320" cy="2743200"/>
          </a:xfrm>
          <a:prstGeom prst="rect">
            <a:avLst/>
          </a:prstGeom>
          <a:noFill/>
          <a:ln/>
        </p:spPr>
        <p:txBody>
          <a:bodyPr wrap="square" lIns="0" tIns="0" rIns="0" bIns="0" rtlCol="0" anchor="ctr"/>
          <a:lstStyle/>
          <a:p>
            <a:pPr marL="177800" indent="-177800">
              <a:lnSpc>
                <a:spcPct val="128000"/>
              </a:lnSpc>
              <a:spcAft>
                <a:spcPts val="600"/>
              </a:spcAft>
              <a:buSzPct val="100000"/>
              <a:buChar char="•"/>
            </a:pPr>
            <a:r>
              <a:rPr lang="en-US" sz="1400" dirty="0">
                <a:solidFill>
                  <a:srgbClr val="141414"/>
                </a:solidFill>
                <a:latin typeface="Calibri" pitchFamily="34" charset="0"/>
                <a:ea typeface="Calibri" pitchFamily="34" charset="-122"/>
                <a:cs typeface="Calibri" pitchFamily="34" charset="-120"/>
              </a:rPr>
              <a:t>Capital-IN governance (lender/owner → project)</a:t>
            </a:r>
            <a:pPr indent="0" marL="0">
              <a:lnSpc>
                <a:spcPct val="128000"/>
              </a:lnSpc>
              <a:spcAft>
                <a:spcPts val="600"/>
              </a:spcAft>
              <a:buNone/>
            </a:pPr>
            <a:r>
              <a:rPr lang="en-US" sz="1400" b="1" dirty="0">
                <a:solidFill>
                  <a:srgbClr val="141414"/>
                </a:solidFill>
                <a:latin typeface="Calibri" pitchFamily="34" charset="0"/>
                <a:ea typeface="Calibri" pitchFamily="34" charset="-122"/>
                <a:cs typeface="Calibri" pitchFamily="34" charset="-120"/>
              </a:rPr>
              <a:t>Deterministic 10-condition release gate</a:t>
            </a:r>
            <a:pPr indent="0" marL="0">
              <a:lnSpc>
                <a:spcPct val="128000"/>
              </a:lnSpc>
              <a:spcAft>
                <a:spcPts val="600"/>
              </a:spcAft>
              <a:buNone/>
            </a:pPr>
            <a:r>
              <a:rPr lang="en-US" sz="1400" dirty="0">
                <a:solidFill>
                  <a:srgbClr val="141414"/>
                </a:solidFill>
                <a:latin typeface="Calibri" pitchFamily="34" charset="0"/>
                <a:ea typeface="Calibri" pitchFamily="34" charset="-122"/>
                <a:cs typeface="Calibri" pitchFamily="34" charset="-120"/>
              </a:rPr>
              <a:t>Signed disbursement authorization</a:t>
            </a:r>
            <a:pPr indent="0" marL="0">
              <a:lnSpc>
                <a:spcPct val="128000"/>
              </a:lnSpc>
              <a:spcAft>
                <a:spcPts val="600"/>
              </a:spcAft>
              <a:buNone/>
            </a:pPr>
            <a:r>
              <a:rPr lang="en-US" sz="1400" dirty="0">
                <a:solidFill>
                  <a:srgbClr val="141414"/>
                </a:solidFill>
                <a:latin typeface="Calibri" pitchFamily="34" charset="0"/>
                <a:ea typeface="Calibri" pitchFamily="34" charset="-122"/>
                <a:cs typeface="Calibri" pitchFamily="34" charset="-120"/>
              </a:rPr>
              <a:t>Hash-chained, append-only audit trail</a:t>
            </a:r>
            <a:pPr indent="0" marL="0">
              <a:lnSpc>
                <a:spcPct val="128000"/>
              </a:lnSpc>
              <a:spcAft>
                <a:spcPts val="600"/>
              </a:spcAft>
              <a:buNone/>
            </a:pPr>
            <a:r>
              <a:rPr lang="en-US" sz="1400" b="1" dirty="0">
                <a:solidFill>
                  <a:srgbClr val="141414"/>
                </a:solidFill>
                <a:latin typeface="Calibri" pitchFamily="34" charset="0"/>
                <a:ea typeface="Calibri" pitchFamily="34" charset="-122"/>
                <a:cs typeface="Calibri" pitchFamily="34" charset="-120"/>
              </a:rPr>
              <a:t>Non-custodial — the funder's rail moves money</a:t>
            </a:r>
            <a:endParaRPr lang="en-US" sz="1400" dirty="0"/>
          </a:p>
        </p:txBody>
      </p:sp>
      <p:sp>
        <p:nvSpPr>
          <p:cNvPr id="10" name="Text 8"/>
          <p:cNvSpPr/>
          <p:nvPr/>
        </p:nvSpPr>
        <p:spPr>
          <a:xfrm>
            <a:off x="548640" y="5669280"/>
            <a:ext cx="11064240" cy="548640"/>
          </a:xfrm>
          <a:prstGeom prst="rect">
            <a:avLst/>
          </a:prstGeom>
          <a:noFill/>
          <a:ln/>
        </p:spPr>
        <p:txBody>
          <a:bodyPr wrap="square" lIns="0" tIns="0" rIns="0" bIns="0" rtlCol="0" anchor="ctr"/>
          <a:lstStyle/>
          <a:p>
            <a:pPr algn="ctr" indent="0" marL="0">
              <a:buNone/>
            </a:pPr>
            <a:r>
              <a:rPr lang="en-US" sz="1250" b="1" dirty="0">
                <a:solidFill>
                  <a:srgbClr val="1A3A96"/>
                </a:solidFill>
                <a:latin typeface="Calibri" pitchFamily="34" charset="0"/>
                <a:ea typeface="Calibri" pitchFamily="34" charset="-122"/>
                <a:cs typeface="Calibri" pitchFamily="34" charset="-120"/>
              </a:rPr>
              <a:t>The boundary:  </a:t>
            </a:r>
            <a:pPr algn="ctr" indent="0" marL="0">
              <a:buNone/>
            </a:pPr>
            <a:r>
              <a:rPr lang="en-US" sz="1250" dirty="0">
                <a:solidFill>
                  <a:srgbClr val="5A6478"/>
                </a:solidFill>
                <a:latin typeface="Calibri" pitchFamily="34" charset="0"/>
                <a:ea typeface="Calibri" pitchFamily="34" charset="-122"/>
                <a:cs typeface="Calibri" pitchFamily="34" charset="-120"/>
              </a:rPr>
              <a:t>Vektrum governs lender/owner → project capital. It reads Levelset waiver status (never replaces it) and never touches Procore Pay's GC → Sub lane.</a:t>
            </a:r>
            <a:endParaRPr lang="en-US" sz="1250" dirty="0"/>
          </a:p>
        </p:txBody>
      </p:sp>
      <p:sp>
        <p:nvSpPr>
          <p:cNvPr id="11" name="Text 9"/>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12" name="Text 10"/>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INTEGRATED ARCHITECTURE</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How a governed draw flows.</a:t>
            </a:r>
            <a:endParaRPr lang="en-US" sz="3200" dirty="0"/>
          </a:p>
        </p:txBody>
      </p:sp>
      <p:pic>
        <p:nvPicPr>
          <p:cNvPr id="4" name="Image 0" descr="/home/user/Vektrum-Governance-/procore-submission/assets/integration-diagram.png">    </p:cNvPr>
          <p:cNvPicPr>
            <a:picLocks noChangeAspect="1"/>
          </p:cNvPicPr>
          <p:nvPr/>
        </p:nvPicPr>
        <p:blipFill>
          <a:blip r:embed="rId1"/>
          <a:stretch>
            <a:fillRect/>
          </a:stretch>
        </p:blipFill>
        <p:spPr>
          <a:xfrm>
            <a:off x="502920" y="1783080"/>
            <a:ext cx="11183112" cy="2734056"/>
          </a:xfrm>
          <a:prstGeom prst="rect">
            <a:avLst/>
          </a:prstGeom>
        </p:spPr>
      </p:pic>
      <p:sp>
        <p:nvSpPr>
          <p:cNvPr id="5" name="Shape 2"/>
          <p:cNvSpPr/>
          <p:nvPr/>
        </p:nvSpPr>
        <p:spPr>
          <a:xfrm>
            <a:off x="548640" y="4892040"/>
            <a:ext cx="3566160" cy="960120"/>
          </a:xfrm>
          <a:prstGeom prst="roundRect">
            <a:avLst>
              <a:gd name="adj" fmla="val 6667"/>
            </a:avLst>
          </a:prstGeom>
          <a:solidFill>
            <a:srgbClr val="FBEBDD"/>
          </a:solidFill>
          <a:ln w="12700">
            <a:solidFill>
              <a:srgbClr val="D9621C"/>
            </a:solidFill>
            <a:prstDash val="solid"/>
          </a:ln>
        </p:spPr>
      </p:sp>
      <p:sp>
        <p:nvSpPr>
          <p:cNvPr id="6" name="Text 3"/>
          <p:cNvSpPr/>
          <p:nvPr/>
        </p:nvSpPr>
        <p:spPr>
          <a:xfrm>
            <a:off x="713232" y="4983480"/>
            <a:ext cx="3246120" cy="777240"/>
          </a:xfrm>
          <a:prstGeom prst="rect">
            <a:avLst/>
          </a:prstGeom>
          <a:noFill/>
          <a:ln/>
        </p:spPr>
        <p:txBody>
          <a:bodyPr wrap="square" lIns="0" tIns="0" rIns="0" bIns="0" rtlCol="0" anchor="ctr"/>
          <a:lstStyle/>
          <a:p>
            <a:pPr indent="0" marL="0">
              <a:buNone/>
            </a:pPr>
            <a:r>
              <a:rPr lang="en-US" sz="1100" b="1" dirty="0">
                <a:solidFill>
                  <a:srgbClr val="D9621C"/>
                </a:solidFill>
                <a:latin typeface="Calibri" pitchFamily="34" charset="0"/>
                <a:ea typeface="Calibri" pitchFamily="34" charset="-122"/>
                <a:cs typeface="Calibri" pitchFamily="34" charset="-120"/>
              </a:rPr>
              <a:t>READ from Procore  </a:t>
            </a:r>
            <a:pPr indent="0" marL="0">
              <a:buNone/>
            </a:pPr>
            <a:r>
              <a:rPr lang="en-US" sz="900" b="1" dirty="0">
                <a:solidFill>
                  <a:srgbClr val="D9621C"/>
                </a:solidFill>
                <a:latin typeface="Calibri" pitchFamily="34" charset="0"/>
                <a:ea typeface="Calibri" pitchFamily="34" charset="-122"/>
                <a:cs typeface="Calibri" pitchFamily="34" charset="-120"/>
              </a:rPr>
              <a:t>[PROPOSED]</a:t>
            </a:r>
            <a:pPr indent="0" marL="0">
              <a:buNone/>
            </a:pPr>
            <a:endParaRPr lang="en-US" sz="1100" dirty="0"/>
          </a:p>
          <a:p>
            <a:pPr indent="0" marL="0">
              <a:buNone/>
            </a:pPr>
            <a:r>
              <a:rPr lang="en-US" sz="1100" dirty="0">
                <a:solidFill>
                  <a:srgbClr val="5A6478"/>
                </a:solidFill>
                <a:latin typeface="Calibri" pitchFamily="34" charset="0"/>
                <a:ea typeface="Calibri" pitchFamily="34" charset="-122"/>
                <a:cs typeface="Calibri" pitchFamily="34" charset="-120"/>
              </a:rPr>
              <a:t>Prime Contract SOV, change orders, docs, Levelset status.</a:t>
            </a:r>
            <a:endParaRPr lang="en-US" sz="1100" dirty="0"/>
          </a:p>
        </p:txBody>
      </p:sp>
      <p:sp>
        <p:nvSpPr>
          <p:cNvPr id="7" name="Shape 4"/>
          <p:cNvSpPr/>
          <p:nvPr/>
        </p:nvSpPr>
        <p:spPr>
          <a:xfrm>
            <a:off x="4315968" y="4892040"/>
            <a:ext cx="3566160" cy="960120"/>
          </a:xfrm>
          <a:prstGeom prst="roundRect">
            <a:avLst>
              <a:gd name="adj" fmla="val 6667"/>
            </a:avLst>
          </a:prstGeom>
          <a:solidFill>
            <a:srgbClr val="E8EDF8"/>
          </a:solidFill>
          <a:ln w="12700">
            <a:solidFill>
              <a:srgbClr val="1A3A96"/>
            </a:solidFill>
            <a:prstDash val="solid"/>
          </a:ln>
        </p:spPr>
      </p:sp>
      <p:sp>
        <p:nvSpPr>
          <p:cNvPr id="8" name="Text 5"/>
          <p:cNvSpPr/>
          <p:nvPr/>
        </p:nvSpPr>
        <p:spPr>
          <a:xfrm>
            <a:off x="4480560" y="4983480"/>
            <a:ext cx="3246120" cy="777240"/>
          </a:xfrm>
          <a:prstGeom prst="rect">
            <a:avLst/>
          </a:prstGeom>
          <a:noFill/>
          <a:ln/>
        </p:spPr>
        <p:txBody>
          <a:bodyPr wrap="square" lIns="0" tIns="0" rIns="0" bIns="0" rtlCol="0" anchor="ctr"/>
          <a:lstStyle/>
          <a:p>
            <a:pPr indent="0" marL="0">
              <a:buNone/>
            </a:pPr>
            <a:r>
              <a:rPr lang="en-US" sz="1100" b="1" dirty="0">
                <a:solidFill>
                  <a:srgbClr val="1A3A96"/>
                </a:solidFill>
                <a:latin typeface="Calibri" pitchFamily="34" charset="0"/>
                <a:ea typeface="Calibri" pitchFamily="34" charset="-122"/>
                <a:cs typeface="Calibri" pitchFamily="34" charset="-120"/>
              </a:rPr>
              <a:t>VEKTRUM governs  </a:t>
            </a:r>
            <a:pPr indent="0" marL="0">
              <a:buNone/>
            </a:pPr>
            <a:r>
              <a:rPr lang="en-US" sz="900" b="1" dirty="0">
                <a:solidFill>
                  <a:srgbClr val="1A7A4A"/>
                </a:solidFill>
                <a:latin typeface="Calibri" pitchFamily="34" charset="0"/>
                <a:ea typeface="Calibri" pitchFamily="34" charset="-122"/>
                <a:cs typeface="Calibri" pitchFamily="34" charset="-120"/>
              </a:rPr>
              <a:t>[LIVE]</a:t>
            </a:r>
            <a:pPr indent="0" marL="0">
              <a:buNone/>
            </a:pPr>
            <a:endParaRPr lang="en-US" sz="1100" dirty="0"/>
          </a:p>
          <a:p>
            <a:pPr indent="0" marL="0">
              <a:buNone/>
            </a:pPr>
            <a:r>
              <a:rPr lang="en-US" sz="1100" dirty="0">
                <a:solidFill>
                  <a:srgbClr val="5A6478"/>
                </a:solidFill>
                <a:latin typeface="Calibri" pitchFamily="34" charset="0"/>
                <a:ea typeface="Calibri" pitchFamily="34" charset="-122"/>
                <a:cs typeface="Calibri" pitchFamily="34" charset="-120"/>
              </a:rPr>
              <a:t>10-condition gate → signed authorization → audit.</a:t>
            </a:r>
            <a:endParaRPr lang="en-US" sz="1100" dirty="0"/>
          </a:p>
        </p:txBody>
      </p:sp>
      <p:sp>
        <p:nvSpPr>
          <p:cNvPr id="9" name="Shape 6"/>
          <p:cNvSpPr/>
          <p:nvPr/>
        </p:nvSpPr>
        <p:spPr>
          <a:xfrm>
            <a:off x="8083296" y="4892040"/>
            <a:ext cx="3566160" cy="960120"/>
          </a:xfrm>
          <a:prstGeom prst="roundRect">
            <a:avLst>
              <a:gd name="adj" fmla="val 6667"/>
            </a:avLst>
          </a:prstGeom>
          <a:solidFill>
            <a:srgbClr val="FBEBDD"/>
          </a:solidFill>
          <a:ln w="12700">
            <a:solidFill>
              <a:srgbClr val="D9621C"/>
            </a:solidFill>
            <a:prstDash val="solid"/>
          </a:ln>
        </p:spPr>
      </p:sp>
      <p:sp>
        <p:nvSpPr>
          <p:cNvPr id="10" name="Text 7"/>
          <p:cNvSpPr/>
          <p:nvPr/>
        </p:nvSpPr>
        <p:spPr>
          <a:xfrm>
            <a:off x="8247888" y="4983480"/>
            <a:ext cx="3246120" cy="777240"/>
          </a:xfrm>
          <a:prstGeom prst="rect">
            <a:avLst/>
          </a:prstGeom>
          <a:noFill/>
          <a:ln/>
        </p:spPr>
        <p:txBody>
          <a:bodyPr wrap="square" lIns="0" tIns="0" rIns="0" bIns="0" rtlCol="0" anchor="ctr"/>
          <a:lstStyle/>
          <a:p>
            <a:pPr indent="0" marL="0">
              <a:buNone/>
            </a:pPr>
            <a:r>
              <a:rPr lang="en-US" sz="1100" b="1" dirty="0">
                <a:solidFill>
                  <a:srgbClr val="D9621C"/>
                </a:solidFill>
                <a:latin typeface="Calibri" pitchFamily="34" charset="0"/>
                <a:ea typeface="Calibri" pitchFamily="34" charset="-122"/>
                <a:cs typeface="Calibri" pitchFamily="34" charset="-120"/>
              </a:rPr>
              <a:t>WRITE-BACK  </a:t>
            </a:r>
            <a:pPr indent="0" marL="0">
              <a:buNone/>
            </a:pPr>
            <a:r>
              <a:rPr lang="en-US" sz="900" b="1" dirty="0">
                <a:solidFill>
                  <a:srgbClr val="D9621C"/>
                </a:solidFill>
                <a:latin typeface="Calibri" pitchFamily="34" charset="0"/>
                <a:ea typeface="Calibri" pitchFamily="34" charset="-122"/>
                <a:cs typeface="Calibri" pitchFamily="34" charset="-120"/>
              </a:rPr>
              <a:t>[PROPOSED]</a:t>
            </a:r>
            <a:pPr indent="0" marL="0">
              <a:buNone/>
            </a:pPr>
            <a:endParaRPr lang="en-US" sz="1100" dirty="0"/>
          </a:p>
          <a:p>
            <a:pPr indent="0" marL="0">
              <a:buNone/>
            </a:pPr>
            <a:r>
              <a:rPr lang="en-US" sz="1100" dirty="0">
                <a:solidFill>
                  <a:srgbClr val="5A6478"/>
                </a:solidFill>
                <a:latin typeface="Calibri" pitchFamily="34" charset="0"/>
                <a:ea typeface="Calibri" pitchFamily="34" charset="-122"/>
                <a:cs typeface="Calibri" pitchFamily="34" charset="-120"/>
              </a:rPr>
              <a:t>Create audit attachment · Update status. No deletes.</a:t>
            </a:r>
            <a:endParaRPr lang="en-US" sz="1100" dirty="0"/>
          </a:p>
        </p:txBody>
      </p:sp>
      <p:sp>
        <p:nvSpPr>
          <p:cNvPr id="11" name="Text 8"/>
          <p:cNvSpPr/>
          <p:nvPr/>
        </p:nvSpPr>
        <p:spPr>
          <a:xfrm>
            <a:off x="548640" y="5989320"/>
            <a:ext cx="11064240" cy="274320"/>
          </a:xfrm>
          <a:prstGeom prst="rect">
            <a:avLst/>
          </a:prstGeom>
          <a:noFill/>
          <a:ln/>
        </p:spPr>
        <p:txBody>
          <a:bodyPr wrap="square" rtlCol="0" anchor="ctr"/>
          <a:lstStyle/>
          <a:p>
            <a:pPr algn="ctr" indent="0" marL="0">
              <a:buNone/>
            </a:pPr>
            <a:r>
              <a:rPr lang="en-US" sz="1000" i="1" dirty="0">
                <a:solidFill>
                  <a:srgbClr val="9AA3B5"/>
                </a:solidFill>
                <a:latin typeface="Calibri" pitchFamily="34" charset="0"/>
                <a:ea typeface="Calibri" pitchFamily="34" charset="-122"/>
                <a:cs typeface="Calibri" pitchFamily="34" charset="-120"/>
              </a:rPr>
              <a:t>Solid = live today   ·   dotted = proposed   ·   read-heavy, attachment + status write-back, no core-financial writes</a:t>
            </a:r>
            <a:endParaRPr lang="en-US" sz="1000" dirty="0"/>
          </a:p>
        </p:txBody>
      </p:sp>
      <p:sp>
        <p:nvSpPr>
          <p:cNvPr id="12" name="Text 9"/>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13" name="Text 10"/>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MUTUAL-CUSTOMER OUTCOMES</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What mutual customers get.</a:t>
            </a:r>
            <a:endParaRPr lang="en-US" sz="3200" dirty="0"/>
          </a:p>
        </p:txBody>
      </p:sp>
      <p:sp>
        <p:nvSpPr>
          <p:cNvPr id="4" name="Shape 2"/>
          <p:cNvSpPr/>
          <p:nvPr/>
        </p:nvSpPr>
        <p:spPr>
          <a:xfrm>
            <a:off x="548640" y="1874520"/>
            <a:ext cx="5394960" cy="1737360"/>
          </a:xfrm>
          <a:prstGeom prst="roundRect">
            <a:avLst>
              <a:gd name="adj" fmla="val 4211"/>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5" name="Text 3"/>
          <p:cNvSpPr/>
          <p:nvPr/>
        </p:nvSpPr>
        <p:spPr>
          <a:xfrm>
            <a:off x="804672" y="2075688"/>
            <a:ext cx="914400" cy="365760"/>
          </a:xfrm>
          <a:prstGeom prst="rect">
            <a:avLst/>
          </a:prstGeom>
          <a:noFill/>
          <a:ln/>
        </p:spPr>
        <p:txBody>
          <a:bodyPr wrap="square" lIns="0" tIns="0" rIns="0" bIns="0" rtlCol="0" anchor="ctr"/>
          <a:lstStyle/>
          <a:p>
            <a:pPr indent="0" marL="0">
              <a:buNone/>
            </a:pPr>
            <a:r>
              <a:rPr lang="en-US" sz="1600" b="1" dirty="0">
                <a:solidFill>
                  <a:srgbClr val="4E74D8"/>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325880" y="2057400"/>
            <a:ext cx="4389120" cy="45720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Faster verified draws</a:t>
            </a:r>
            <a:endParaRPr lang="en-US" sz="1450" dirty="0"/>
          </a:p>
        </p:txBody>
      </p:sp>
      <p:sp>
        <p:nvSpPr>
          <p:cNvPr id="7" name="Text 5"/>
          <p:cNvSpPr/>
          <p:nvPr/>
        </p:nvSpPr>
        <p:spPr>
          <a:xfrm>
            <a:off x="804672" y="2532888"/>
            <a:ext cx="4892040" cy="6400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SOV + evidence run a server-side 10-condition gate instead of manual PDF/email review.</a:t>
            </a:r>
            <a:endParaRPr lang="en-US" sz="1100" dirty="0"/>
          </a:p>
        </p:txBody>
      </p:sp>
      <p:sp>
        <p:nvSpPr>
          <p:cNvPr id="8" name="Text 6"/>
          <p:cNvSpPr/>
          <p:nvPr/>
        </p:nvSpPr>
        <p:spPr>
          <a:xfrm>
            <a:off x="804672" y="3172968"/>
            <a:ext cx="4892040" cy="320040"/>
          </a:xfrm>
          <a:prstGeom prst="rect">
            <a:avLst/>
          </a:prstGeom>
          <a:noFill/>
          <a:ln/>
        </p:spPr>
        <p:txBody>
          <a:bodyPr wrap="square" lIns="0" tIns="0" rIns="0" bIns="0" rtlCol="0" anchor="ctr"/>
          <a:lstStyle/>
          <a:p>
            <a:pPr indent="0" marL="0">
              <a:buNone/>
            </a:pPr>
            <a:r>
              <a:rPr lang="en-US" sz="950" b="1" i="1" dirty="0">
                <a:solidFill>
                  <a:srgbClr val="D9621C"/>
                </a:solidFill>
                <a:latin typeface="Calibri" pitchFamily="34" charset="0"/>
                <a:ea typeface="Calibri" pitchFamily="34" charset="-122"/>
                <a:cs typeface="Calibri" pitchFamily="34" charset="-120"/>
              </a:rPr>
              <a:t>[FOUNDER TO CONFIRM: draw cycle time]</a:t>
            </a:r>
            <a:endParaRPr lang="en-US" sz="950" dirty="0"/>
          </a:p>
        </p:txBody>
      </p:sp>
      <p:sp>
        <p:nvSpPr>
          <p:cNvPr id="9" name="Shape 7"/>
          <p:cNvSpPr/>
          <p:nvPr/>
        </p:nvSpPr>
        <p:spPr>
          <a:xfrm>
            <a:off x="6245352" y="1874520"/>
            <a:ext cx="5394960" cy="1737360"/>
          </a:xfrm>
          <a:prstGeom prst="roundRect">
            <a:avLst>
              <a:gd name="adj" fmla="val 4211"/>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0" name="Text 8"/>
          <p:cNvSpPr/>
          <p:nvPr/>
        </p:nvSpPr>
        <p:spPr>
          <a:xfrm>
            <a:off x="6501384" y="2075688"/>
            <a:ext cx="914400" cy="365760"/>
          </a:xfrm>
          <a:prstGeom prst="rect">
            <a:avLst/>
          </a:prstGeom>
          <a:noFill/>
          <a:ln/>
        </p:spPr>
        <p:txBody>
          <a:bodyPr wrap="square" lIns="0" tIns="0" rIns="0" bIns="0" rtlCol="0" anchor="ctr"/>
          <a:lstStyle/>
          <a:p>
            <a:pPr indent="0" marL="0">
              <a:buNone/>
            </a:pPr>
            <a:r>
              <a:rPr lang="en-US" sz="1600" b="1" dirty="0">
                <a:solidFill>
                  <a:srgbClr val="4E74D8"/>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7022592" y="2057400"/>
            <a:ext cx="4389120" cy="45720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Audit-ready lender compliance</a:t>
            </a:r>
            <a:endParaRPr lang="en-US" sz="1450" dirty="0"/>
          </a:p>
        </p:txBody>
      </p:sp>
      <p:sp>
        <p:nvSpPr>
          <p:cNvPr id="12" name="Text 10"/>
          <p:cNvSpPr/>
          <p:nvPr/>
        </p:nvSpPr>
        <p:spPr>
          <a:xfrm>
            <a:off x="6501384" y="2532888"/>
            <a:ext cx="4892040" cy="6400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Every decision is hash-chained; a one-click audit packet attaches to the Prime Contract.</a:t>
            </a:r>
            <a:endParaRPr lang="en-US" sz="1100" dirty="0"/>
          </a:p>
        </p:txBody>
      </p:sp>
      <p:sp>
        <p:nvSpPr>
          <p:cNvPr id="13" name="Text 11"/>
          <p:cNvSpPr/>
          <p:nvPr/>
        </p:nvSpPr>
        <p:spPr>
          <a:xfrm>
            <a:off x="6501384" y="3172968"/>
            <a:ext cx="4892040" cy="320040"/>
          </a:xfrm>
          <a:prstGeom prst="rect">
            <a:avLst/>
          </a:prstGeom>
          <a:noFill/>
          <a:ln/>
        </p:spPr>
        <p:txBody>
          <a:bodyPr wrap="square" lIns="0" tIns="0" rIns="0" bIns="0" rtlCol="0" anchor="ctr"/>
          <a:lstStyle/>
          <a:p>
            <a:pPr indent="0" marL="0">
              <a:buNone/>
            </a:pPr>
            <a:r>
              <a:rPr lang="en-US" sz="950" b="1" i="1" dirty="0">
                <a:solidFill>
                  <a:srgbClr val="D9621C"/>
                </a:solidFill>
                <a:latin typeface="Calibri" pitchFamily="34" charset="0"/>
                <a:ea typeface="Calibri" pitchFamily="34" charset="-122"/>
                <a:cs typeface="Calibri" pitchFamily="34" charset="-120"/>
              </a:rPr>
              <a:t>[FOUNDER TO CONFIRM: audit-prep time saved]</a:t>
            </a:r>
            <a:endParaRPr lang="en-US" sz="950" dirty="0"/>
          </a:p>
        </p:txBody>
      </p:sp>
      <p:sp>
        <p:nvSpPr>
          <p:cNvPr id="14" name="Shape 12"/>
          <p:cNvSpPr/>
          <p:nvPr/>
        </p:nvSpPr>
        <p:spPr>
          <a:xfrm>
            <a:off x="548640" y="3794760"/>
            <a:ext cx="5394960" cy="1737360"/>
          </a:xfrm>
          <a:prstGeom prst="roundRect">
            <a:avLst>
              <a:gd name="adj" fmla="val 4211"/>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5" name="Text 13"/>
          <p:cNvSpPr/>
          <p:nvPr/>
        </p:nvSpPr>
        <p:spPr>
          <a:xfrm>
            <a:off x="804672" y="3995928"/>
            <a:ext cx="914400" cy="365760"/>
          </a:xfrm>
          <a:prstGeom prst="rect">
            <a:avLst/>
          </a:prstGeom>
          <a:noFill/>
          <a:ln/>
        </p:spPr>
        <p:txBody>
          <a:bodyPr wrap="square" lIns="0" tIns="0" rIns="0" bIns="0" rtlCol="0" anchor="ctr"/>
          <a:lstStyle/>
          <a:p>
            <a:pPr indent="0" marL="0">
              <a:buNone/>
            </a:pPr>
            <a:r>
              <a:rPr lang="en-US" sz="1600" b="1" dirty="0">
                <a:solidFill>
                  <a:srgbClr val="4E74D8"/>
                </a:solidFill>
                <a:latin typeface="Cambria" pitchFamily="34" charset="0"/>
                <a:ea typeface="Cambria" pitchFamily="34" charset="-122"/>
                <a:cs typeface="Cambria" pitchFamily="34" charset="-120"/>
              </a:rPr>
              <a:t>03</a:t>
            </a:r>
            <a:endParaRPr lang="en-US" sz="1600" dirty="0"/>
          </a:p>
        </p:txBody>
      </p:sp>
      <p:sp>
        <p:nvSpPr>
          <p:cNvPr id="16" name="Text 14"/>
          <p:cNvSpPr/>
          <p:nvPr/>
        </p:nvSpPr>
        <p:spPr>
          <a:xfrm>
            <a:off x="1325880" y="3977640"/>
            <a:ext cx="4389120" cy="45720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Fewer mechanics liens reaching owners</a:t>
            </a:r>
            <a:endParaRPr lang="en-US" sz="1450" dirty="0"/>
          </a:p>
        </p:txBody>
      </p:sp>
      <p:sp>
        <p:nvSpPr>
          <p:cNvPr id="17" name="Text 15"/>
          <p:cNvSpPr/>
          <p:nvPr/>
        </p:nvSpPr>
        <p:spPr>
          <a:xfrm>
            <a:off x="804672" y="4453128"/>
            <a:ext cx="4892040" cy="6400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Release is blocked without an approved conditional lien waiver (gate condition 10).</a:t>
            </a:r>
            <a:endParaRPr lang="en-US" sz="1100" dirty="0"/>
          </a:p>
        </p:txBody>
      </p:sp>
      <p:sp>
        <p:nvSpPr>
          <p:cNvPr id="18" name="Text 16"/>
          <p:cNvSpPr/>
          <p:nvPr/>
        </p:nvSpPr>
        <p:spPr>
          <a:xfrm>
            <a:off x="804672" y="5093208"/>
            <a:ext cx="4892040" cy="320040"/>
          </a:xfrm>
          <a:prstGeom prst="rect">
            <a:avLst/>
          </a:prstGeom>
          <a:noFill/>
          <a:ln/>
        </p:spPr>
        <p:txBody>
          <a:bodyPr wrap="square" lIns="0" tIns="0" rIns="0" bIns="0" rtlCol="0" anchor="ctr"/>
          <a:lstStyle/>
          <a:p>
            <a:pPr indent="0" marL="0">
              <a:buNone/>
            </a:pPr>
            <a:r>
              <a:rPr lang="en-US" sz="950" b="1" i="1" dirty="0">
                <a:solidFill>
                  <a:srgbClr val="D9621C"/>
                </a:solidFill>
                <a:latin typeface="Calibri" pitchFamily="34" charset="0"/>
                <a:ea typeface="Calibri" pitchFamily="34" charset="-122"/>
                <a:cs typeface="Calibri" pitchFamily="34" charset="-120"/>
              </a:rPr>
              <a:t>[FOUNDER TO CONFIRM: lien incidence]</a:t>
            </a:r>
            <a:endParaRPr lang="en-US" sz="950" dirty="0"/>
          </a:p>
        </p:txBody>
      </p:sp>
      <p:sp>
        <p:nvSpPr>
          <p:cNvPr id="19" name="Shape 17"/>
          <p:cNvSpPr/>
          <p:nvPr/>
        </p:nvSpPr>
        <p:spPr>
          <a:xfrm>
            <a:off x="6245352" y="3794760"/>
            <a:ext cx="5394960" cy="1737360"/>
          </a:xfrm>
          <a:prstGeom prst="roundRect">
            <a:avLst>
              <a:gd name="adj" fmla="val 4211"/>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20" name="Text 18"/>
          <p:cNvSpPr/>
          <p:nvPr/>
        </p:nvSpPr>
        <p:spPr>
          <a:xfrm>
            <a:off x="6501384" y="3995928"/>
            <a:ext cx="914400" cy="365760"/>
          </a:xfrm>
          <a:prstGeom prst="rect">
            <a:avLst/>
          </a:prstGeom>
          <a:noFill/>
          <a:ln/>
        </p:spPr>
        <p:txBody>
          <a:bodyPr wrap="square" lIns="0" tIns="0" rIns="0" bIns="0" rtlCol="0" anchor="ctr"/>
          <a:lstStyle/>
          <a:p>
            <a:pPr indent="0" marL="0">
              <a:buNone/>
            </a:pPr>
            <a:r>
              <a:rPr lang="en-US" sz="1600" b="1" dirty="0">
                <a:solidFill>
                  <a:srgbClr val="4E74D8"/>
                </a:solidFill>
                <a:latin typeface="Cambria" pitchFamily="34" charset="0"/>
                <a:ea typeface="Cambria" pitchFamily="34" charset="-122"/>
                <a:cs typeface="Cambria" pitchFamily="34" charset="-120"/>
              </a:rPr>
              <a:t>04</a:t>
            </a:r>
            <a:endParaRPr lang="en-US" sz="1600" dirty="0"/>
          </a:p>
        </p:txBody>
      </p:sp>
      <p:sp>
        <p:nvSpPr>
          <p:cNvPr id="21" name="Text 19"/>
          <p:cNvSpPr/>
          <p:nvPr/>
        </p:nvSpPr>
        <p:spPr>
          <a:xfrm>
            <a:off x="7022592" y="3977640"/>
            <a:ext cx="4389120" cy="457200"/>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A dispute no longer freezes the project</a:t>
            </a:r>
            <a:endParaRPr lang="en-US" sz="1450" dirty="0"/>
          </a:p>
        </p:txBody>
      </p:sp>
      <p:sp>
        <p:nvSpPr>
          <p:cNvPr id="22" name="Text 20"/>
          <p:cNvSpPr/>
          <p:nvPr/>
        </p:nvSpPr>
        <p:spPr>
          <a:xfrm>
            <a:off x="6501384" y="4453128"/>
            <a:ext cx="4892040" cy="6400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Dispute isolation blocks only the affected milestone; the rest of the schedule keeps releasing.</a:t>
            </a:r>
            <a:endParaRPr lang="en-US" sz="1100" dirty="0"/>
          </a:p>
        </p:txBody>
      </p:sp>
      <p:sp>
        <p:nvSpPr>
          <p:cNvPr id="23" name="Text 21"/>
          <p:cNvSpPr/>
          <p:nvPr/>
        </p:nvSpPr>
        <p:spPr>
          <a:xfrm>
            <a:off x="6501384" y="5093208"/>
            <a:ext cx="4892040" cy="320040"/>
          </a:xfrm>
          <a:prstGeom prst="rect">
            <a:avLst/>
          </a:prstGeom>
          <a:noFill/>
          <a:ln/>
        </p:spPr>
        <p:txBody>
          <a:bodyPr wrap="square" lIns="0" tIns="0" rIns="0" bIns="0" rtlCol="0" anchor="ctr"/>
          <a:lstStyle/>
          <a:p>
            <a:pPr indent="0" marL="0">
              <a:buNone/>
            </a:pPr>
            <a:r>
              <a:rPr lang="en-US" sz="950" b="1" i="1" dirty="0">
                <a:solidFill>
                  <a:srgbClr val="D9621C"/>
                </a:solidFill>
                <a:latin typeface="Calibri" pitchFamily="34" charset="0"/>
                <a:ea typeface="Calibri" pitchFamily="34" charset="-122"/>
                <a:cs typeface="Calibri" pitchFamily="34" charset="-120"/>
              </a:rPr>
              <a:t>[FOUNDER TO CONFIRM: capital continuity]</a:t>
            </a:r>
            <a:endParaRPr lang="en-US" sz="950" dirty="0"/>
          </a:p>
        </p:txBody>
      </p:sp>
      <p:sp>
        <p:nvSpPr>
          <p:cNvPr id="24" name="Text 22"/>
          <p:cNvSpPr/>
          <p:nvPr/>
        </p:nvSpPr>
        <p:spPr>
          <a:xfrm>
            <a:off x="548640" y="5715000"/>
            <a:ext cx="11064240" cy="274320"/>
          </a:xfrm>
          <a:prstGeom prst="rect">
            <a:avLst/>
          </a:prstGeom>
          <a:noFill/>
          <a:ln/>
        </p:spPr>
        <p:txBody>
          <a:bodyPr wrap="square" rtlCol="0" anchor="ctr"/>
          <a:lstStyle/>
          <a:p>
            <a:pPr algn="ctr" indent="0" marL="0">
              <a:buNone/>
            </a:pPr>
            <a:r>
              <a:rPr lang="en-US" sz="1050" i="1" dirty="0">
                <a:solidFill>
                  <a:srgbClr val="5A6478"/>
                </a:solidFill>
                <a:latin typeface="Calibri" pitchFamily="34" charset="0"/>
                <a:ea typeface="Calibri" pitchFamily="34" charset="-122"/>
                <a:cs typeface="Calibri" pitchFamily="34" charset="-120"/>
              </a:rPr>
              <a:t>Each mechanism is live in Vektrum today; metrics to be confirmed from customer data.</a:t>
            </a:r>
            <a:endParaRPr lang="en-US" sz="1050" dirty="0"/>
          </a:p>
        </p:txBody>
      </p:sp>
      <p:sp>
        <p:nvSpPr>
          <p:cNvPr id="25" name="Text 23"/>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26" name="Text 24"/>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IDEAL MUTUAL CUSTOMER</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Who this is for.</a:t>
            </a:r>
            <a:endParaRPr lang="en-US" sz="3200" dirty="0"/>
          </a:p>
        </p:txBody>
      </p:sp>
      <p:sp>
        <p:nvSpPr>
          <p:cNvPr id="4" name="Shape 2"/>
          <p:cNvSpPr/>
          <p:nvPr/>
        </p:nvSpPr>
        <p:spPr>
          <a:xfrm>
            <a:off x="548640" y="2011680"/>
            <a:ext cx="11091672" cy="1170432"/>
          </a:xfrm>
          <a:prstGeom prst="roundRect">
            <a:avLst>
              <a:gd name="adj" fmla="val 6250"/>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5" name="Shape 3"/>
          <p:cNvSpPr/>
          <p:nvPr/>
        </p:nvSpPr>
        <p:spPr>
          <a:xfrm>
            <a:off x="777240" y="2267712"/>
            <a:ext cx="1417320" cy="658368"/>
          </a:xfrm>
          <a:prstGeom prst="roundRect">
            <a:avLst>
              <a:gd name="adj" fmla="val 11111"/>
            </a:avLst>
          </a:prstGeom>
          <a:solidFill>
            <a:srgbClr val="E8EDF8"/>
          </a:solidFill>
          <a:ln w="12700">
            <a:solidFill>
              <a:srgbClr val="1A3A96"/>
            </a:solidFill>
            <a:prstDash val="solid"/>
          </a:ln>
        </p:spPr>
      </p:sp>
      <p:sp>
        <p:nvSpPr>
          <p:cNvPr id="6" name="Text 4"/>
          <p:cNvSpPr/>
          <p:nvPr/>
        </p:nvSpPr>
        <p:spPr>
          <a:xfrm>
            <a:off x="777240" y="2267712"/>
            <a:ext cx="1417320" cy="658368"/>
          </a:xfrm>
          <a:prstGeom prst="rect">
            <a:avLst/>
          </a:prstGeom>
          <a:noFill/>
          <a:ln/>
        </p:spPr>
        <p:txBody>
          <a:bodyPr wrap="square" lIns="0" tIns="0" rIns="0" bIns="0" rtlCol="0" anchor="ctr"/>
          <a:lstStyle/>
          <a:p>
            <a:pPr algn="ctr" indent="0" marL="0">
              <a:buNone/>
            </a:pPr>
            <a:r>
              <a:rPr lang="en-US" sz="1100" b="1" spc="100" kern="0" dirty="0">
                <a:solidFill>
                  <a:srgbClr val="1A3A96"/>
                </a:solidFill>
                <a:latin typeface="Calibri" pitchFamily="34" charset="0"/>
                <a:ea typeface="Calibri" pitchFamily="34" charset="-122"/>
                <a:cs typeface="Calibri" pitchFamily="34" charset="-120"/>
              </a:rPr>
              <a:t>PRIMARY</a:t>
            </a:r>
            <a:endParaRPr lang="en-US" sz="1100" dirty="0"/>
          </a:p>
        </p:txBody>
      </p:sp>
      <p:sp>
        <p:nvSpPr>
          <p:cNvPr id="7" name="Text 5"/>
          <p:cNvSpPr/>
          <p:nvPr/>
        </p:nvSpPr>
        <p:spPr>
          <a:xfrm>
            <a:off x="2423160" y="2194560"/>
            <a:ext cx="8961120" cy="45720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Construction lenders, private credit funds, and owners running fund control</a:t>
            </a:r>
            <a:endParaRPr lang="en-US" sz="1400" dirty="0"/>
          </a:p>
        </p:txBody>
      </p:sp>
      <p:sp>
        <p:nvSpPr>
          <p:cNvPr id="8" name="Text 6"/>
          <p:cNvSpPr/>
          <p:nvPr/>
        </p:nvSpPr>
        <p:spPr>
          <a:xfrm>
            <a:off x="2423160" y="2633472"/>
            <a:ext cx="896112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…on projects a GC already manages in Procore. This is the buyer Procore doesn't sell to directly.</a:t>
            </a:r>
            <a:endParaRPr lang="en-US" sz="1150" dirty="0"/>
          </a:p>
        </p:txBody>
      </p:sp>
      <p:sp>
        <p:nvSpPr>
          <p:cNvPr id="9" name="Shape 7"/>
          <p:cNvSpPr/>
          <p:nvPr/>
        </p:nvSpPr>
        <p:spPr>
          <a:xfrm>
            <a:off x="548640" y="3337560"/>
            <a:ext cx="11091672" cy="1170432"/>
          </a:xfrm>
          <a:prstGeom prst="roundRect">
            <a:avLst>
              <a:gd name="adj" fmla="val 6250"/>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0" name="Shape 8"/>
          <p:cNvSpPr/>
          <p:nvPr/>
        </p:nvSpPr>
        <p:spPr>
          <a:xfrm>
            <a:off x="777240" y="3593592"/>
            <a:ext cx="1417320" cy="658368"/>
          </a:xfrm>
          <a:prstGeom prst="roundRect">
            <a:avLst>
              <a:gd name="adj" fmla="val 11111"/>
            </a:avLst>
          </a:prstGeom>
          <a:solidFill>
            <a:srgbClr val="E9F5EE"/>
          </a:solidFill>
          <a:ln w="12700">
            <a:solidFill>
              <a:srgbClr val="1A7A4A"/>
            </a:solidFill>
            <a:prstDash val="solid"/>
          </a:ln>
        </p:spPr>
      </p:sp>
      <p:sp>
        <p:nvSpPr>
          <p:cNvPr id="11" name="Text 9"/>
          <p:cNvSpPr/>
          <p:nvPr/>
        </p:nvSpPr>
        <p:spPr>
          <a:xfrm>
            <a:off x="777240" y="3593592"/>
            <a:ext cx="1417320" cy="658368"/>
          </a:xfrm>
          <a:prstGeom prst="rect">
            <a:avLst/>
          </a:prstGeom>
          <a:noFill/>
          <a:ln/>
        </p:spPr>
        <p:txBody>
          <a:bodyPr wrap="square" lIns="0" tIns="0" rIns="0" bIns="0" rtlCol="0" anchor="ctr"/>
          <a:lstStyle/>
          <a:p>
            <a:pPr algn="ctr" indent="0" marL="0">
              <a:buNone/>
            </a:pPr>
            <a:r>
              <a:rPr lang="en-US" sz="1100" b="1" spc="100" kern="0" dirty="0">
                <a:solidFill>
                  <a:srgbClr val="1A7A4A"/>
                </a:solidFill>
                <a:latin typeface="Calibri" pitchFamily="34" charset="0"/>
                <a:ea typeface="Calibri" pitchFamily="34" charset="-122"/>
                <a:cs typeface="Calibri" pitchFamily="34" charset="-120"/>
              </a:rPr>
              <a:t>ADJACENT</a:t>
            </a:r>
            <a:endParaRPr lang="en-US" sz="1100" dirty="0"/>
          </a:p>
        </p:txBody>
      </p:sp>
      <p:sp>
        <p:nvSpPr>
          <p:cNvPr id="12" name="Text 10"/>
          <p:cNvSpPr/>
          <p:nvPr/>
        </p:nvSpPr>
        <p:spPr>
          <a:xfrm>
            <a:off x="2423160" y="3520440"/>
            <a:ext cx="8961120" cy="45720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Title, escrow, and fund-control firms administering draws</a:t>
            </a:r>
            <a:endParaRPr lang="en-US" sz="1400" dirty="0"/>
          </a:p>
        </p:txBody>
      </p:sp>
      <p:sp>
        <p:nvSpPr>
          <p:cNvPr id="13" name="Text 11"/>
          <p:cNvSpPr/>
          <p:nvPr/>
        </p:nvSpPr>
        <p:spPr>
          <a:xfrm>
            <a:off x="2423160" y="3959352"/>
            <a:ext cx="896112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They gain verified evidence and authorization records before disbursement.</a:t>
            </a:r>
            <a:endParaRPr lang="en-US" sz="1150" dirty="0"/>
          </a:p>
        </p:txBody>
      </p:sp>
      <p:sp>
        <p:nvSpPr>
          <p:cNvPr id="14" name="Shape 12"/>
          <p:cNvSpPr/>
          <p:nvPr/>
        </p:nvSpPr>
        <p:spPr>
          <a:xfrm>
            <a:off x="548640" y="4663440"/>
            <a:ext cx="11091672" cy="1170432"/>
          </a:xfrm>
          <a:prstGeom prst="roundRect">
            <a:avLst>
              <a:gd name="adj" fmla="val 6250"/>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5" name="Shape 13"/>
          <p:cNvSpPr/>
          <p:nvPr/>
        </p:nvSpPr>
        <p:spPr>
          <a:xfrm>
            <a:off x="777240" y="4919472"/>
            <a:ext cx="1417320" cy="658368"/>
          </a:xfrm>
          <a:prstGeom prst="roundRect">
            <a:avLst>
              <a:gd name="adj" fmla="val 11111"/>
            </a:avLst>
          </a:prstGeom>
          <a:solidFill>
            <a:srgbClr val="FBEBDD"/>
          </a:solidFill>
          <a:ln w="12700">
            <a:solidFill>
              <a:srgbClr val="D9621C"/>
            </a:solidFill>
            <a:prstDash val="solid"/>
          </a:ln>
        </p:spPr>
      </p:sp>
      <p:sp>
        <p:nvSpPr>
          <p:cNvPr id="16" name="Text 14"/>
          <p:cNvSpPr/>
          <p:nvPr/>
        </p:nvSpPr>
        <p:spPr>
          <a:xfrm>
            <a:off x="777240" y="4919472"/>
            <a:ext cx="1417320" cy="658368"/>
          </a:xfrm>
          <a:prstGeom prst="rect">
            <a:avLst/>
          </a:prstGeom>
          <a:noFill/>
          <a:ln/>
        </p:spPr>
        <p:txBody>
          <a:bodyPr wrap="square" lIns="0" tIns="0" rIns="0" bIns="0" rtlCol="0" anchor="ctr"/>
          <a:lstStyle/>
          <a:p>
            <a:pPr algn="ctr" indent="0" marL="0">
              <a:buNone/>
            </a:pPr>
            <a:r>
              <a:rPr lang="en-US" sz="1100" b="1" spc="100" kern="0" dirty="0">
                <a:solidFill>
                  <a:srgbClr val="D9621C"/>
                </a:solidFill>
                <a:latin typeface="Calibri" pitchFamily="34" charset="0"/>
                <a:ea typeface="Calibri" pitchFamily="34" charset="-122"/>
                <a:cs typeface="Calibri" pitchFamily="34" charset="-120"/>
              </a:rPr>
              <a:t>TRIGGER</a:t>
            </a:r>
            <a:endParaRPr lang="en-US" sz="1100" dirty="0"/>
          </a:p>
        </p:txBody>
      </p:sp>
      <p:sp>
        <p:nvSpPr>
          <p:cNvPr id="17" name="Text 15"/>
          <p:cNvSpPr/>
          <p:nvPr/>
        </p:nvSpPr>
        <p:spPr>
          <a:xfrm>
            <a:off x="2423160" y="4846320"/>
            <a:ext cx="8961120" cy="45720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Multi-draw projects with lender covenants and lien-waiver obligations</a:t>
            </a:r>
            <a:endParaRPr lang="en-US" sz="1400" dirty="0"/>
          </a:p>
        </p:txBody>
      </p:sp>
      <p:sp>
        <p:nvSpPr>
          <p:cNvPr id="18" name="Text 16"/>
          <p:cNvSpPr/>
          <p:nvPr/>
        </p:nvSpPr>
        <p:spPr>
          <a:xfrm>
            <a:off x="2423160" y="5285232"/>
            <a:ext cx="8961120" cy="4572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Where verified draws and audit trails are contractually required.</a:t>
            </a:r>
            <a:endParaRPr lang="en-US" sz="1150" dirty="0"/>
          </a:p>
        </p:txBody>
      </p:sp>
      <p:sp>
        <p:nvSpPr>
          <p:cNvPr id="19" name="Text 17"/>
          <p:cNvSpPr/>
          <p:nvPr/>
        </p:nvSpPr>
        <p:spPr>
          <a:xfrm>
            <a:off x="548640" y="6172200"/>
            <a:ext cx="11064240" cy="274320"/>
          </a:xfrm>
          <a:prstGeom prst="rect">
            <a:avLst/>
          </a:prstGeom>
          <a:noFill/>
          <a:ln/>
        </p:spPr>
        <p:txBody>
          <a:bodyPr wrap="square" rtlCol="0" anchor="ctr"/>
          <a:lstStyle/>
          <a:p>
            <a:pPr algn="ctr" indent="0" marL="0">
              <a:buNone/>
            </a:pPr>
            <a:r>
              <a:rPr lang="en-US" sz="1000" b="1" i="1" dirty="0">
                <a:solidFill>
                  <a:srgbClr val="D9621C"/>
                </a:solidFill>
                <a:latin typeface="Calibri" pitchFamily="34" charset="0"/>
                <a:ea typeface="Calibri" pitchFamily="34" charset="-122"/>
                <a:cs typeface="Calibri" pitchFamily="34" charset="-120"/>
              </a:rPr>
              <a:t>[FOUNDER TO CONFIRM: project size band, asset types, # draws per project]</a:t>
            </a:r>
            <a:endParaRPr lang="en-US" sz="1000" dirty="0"/>
          </a:p>
        </p:txBody>
      </p:sp>
      <p:sp>
        <p:nvSpPr>
          <p:cNvPr id="20" name="Text 18"/>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21" name="Text 19"/>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1A3A96"/>
                </a:solidFill>
                <a:latin typeface="Calibri" pitchFamily="34" charset="0"/>
                <a:ea typeface="Calibri" pitchFamily="34" charset="-122"/>
                <a:cs typeface="Calibri" pitchFamily="34" charset="-120"/>
              </a:rPr>
              <a:t>JOINT MOTION</a:t>
            </a:r>
            <a:endParaRPr lang="en-US" sz="1100" dirty="0"/>
          </a:p>
        </p:txBody>
      </p:sp>
      <p:sp>
        <p:nvSpPr>
          <p:cNvPr id="3" name="Text 1"/>
          <p:cNvSpPr/>
          <p:nvPr/>
        </p:nvSpPr>
        <p:spPr>
          <a:xfrm>
            <a:off x="548640" y="713232"/>
            <a:ext cx="11064240" cy="914400"/>
          </a:xfrm>
          <a:prstGeom prst="rect">
            <a:avLst/>
          </a:prstGeom>
          <a:noFill/>
          <a:ln/>
        </p:spPr>
        <p:txBody>
          <a:bodyPr wrap="square" rtlCol="0" anchor="ctr"/>
          <a:lstStyle/>
          <a:p>
            <a:pPr algn="l" indent="0" marL="0">
              <a:lnSpc>
                <a:spcPct val="98000"/>
              </a:lnSpc>
              <a:buNone/>
            </a:pPr>
            <a:r>
              <a:rPr lang="en-US" sz="3200" b="1" dirty="0">
                <a:solidFill>
                  <a:srgbClr val="141414"/>
                </a:solidFill>
                <a:latin typeface="Cambria" pitchFamily="34" charset="0"/>
                <a:ea typeface="Cambria" pitchFamily="34" charset="-122"/>
                <a:cs typeface="Cambria" pitchFamily="34" charset="-120"/>
              </a:rPr>
              <a:t>How we go to market together.</a:t>
            </a:r>
            <a:endParaRPr lang="en-US" sz="3200" dirty="0"/>
          </a:p>
        </p:txBody>
      </p:sp>
      <p:sp>
        <p:nvSpPr>
          <p:cNvPr id="4" name="Shape 2"/>
          <p:cNvSpPr/>
          <p:nvPr/>
        </p:nvSpPr>
        <p:spPr>
          <a:xfrm>
            <a:off x="548640" y="1965960"/>
            <a:ext cx="2606040" cy="3108960"/>
          </a:xfrm>
          <a:prstGeom prst="roundRect">
            <a:avLst>
              <a:gd name="adj" fmla="val 2807"/>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5" name="Shape 3"/>
          <p:cNvSpPr/>
          <p:nvPr/>
        </p:nvSpPr>
        <p:spPr>
          <a:xfrm>
            <a:off x="804672" y="2221992"/>
            <a:ext cx="566928" cy="566928"/>
          </a:xfrm>
          <a:prstGeom prst="roundRect">
            <a:avLst>
              <a:gd name="adj" fmla="val 50000"/>
            </a:avLst>
          </a:prstGeom>
          <a:solidFill>
            <a:srgbClr val="1A3A96"/>
          </a:solidFill>
          <a:ln/>
        </p:spPr>
      </p:sp>
      <p:sp>
        <p:nvSpPr>
          <p:cNvPr id="6" name="Text 4"/>
          <p:cNvSpPr/>
          <p:nvPr/>
        </p:nvSpPr>
        <p:spPr>
          <a:xfrm>
            <a:off x="804672" y="2221992"/>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804672" y="2926080"/>
            <a:ext cx="2148840" cy="411480"/>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Marketplace</a:t>
            </a:r>
            <a:endParaRPr lang="en-US" sz="1500" dirty="0"/>
          </a:p>
        </p:txBody>
      </p:sp>
      <p:sp>
        <p:nvSpPr>
          <p:cNvPr id="8" name="Text 6"/>
          <p:cNvSpPr/>
          <p:nvPr/>
        </p:nvSpPr>
        <p:spPr>
          <a:xfrm>
            <a:off x="804672" y="3383280"/>
            <a:ext cx="2148840" cy="1554480"/>
          </a:xfrm>
          <a:prstGeom prst="rect">
            <a:avLst/>
          </a:prstGeom>
          <a:noFill/>
          <a:ln/>
        </p:spPr>
        <p:txBody>
          <a:bodyPr wrap="square" lIns="0" tIns="0" rIns="0" bIns="0" rtlCol="0" anchor="ctr"/>
          <a:lstStyle/>
          <a:p>
            <a:pPr indent="0" marL="0">
              <a:lnSpc>
                <a:spcPct val="105000"/>
              </a:lnSpc>
              <a:buNone/>
            </a:pPr>
            <a:r>
              <a:rPr lang="en-US" sz="1100" dirty="0">
                <a:solidFill>
                  <a:srgbClr val="5A6478"/>
                </a:solidFill>
                <a:latin typeface="Calibri" pitchFamily="34" charset="0"/>
                <a:ea typeface="Calibri" pitchFamily="34" charset="-122"/>
                <a:cs typeface="Calibri" pitchFamily="34" charset="-120"/>
              </a:rPr>
              <a:t>List Vektrum in the Procore App Marketplace as a capital-in governance app — beside Levelset &amp; Pay, not competing.</a:t>
            </a:r>
            <a:endParaRPr lang="en-US" sz="1100" dirty="0"/>
          </a:p>
        </p:txBody>
      </p:sp>
      <p:sp>
        <p:nvSpPr>
          <p:cNvPr id="9" name="Shape 7"/>
          <p:cNvSpPr/>
          <p:nvPr/>
        </p:nvSpPr>
        <p:spPr>
          <a:xfrm>
            <a:off x="3401568" y="1965960"/>
            <a:ext cx="2606040" cy="3108960"/>
          </a:xfrm>
          <a:prstGeom prst="roundRect">
            <a:avLst>
              <a:gd name="adj" fmla="val 2807"/>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0" name="Shape 8"/>
          <p:cNvSpPr/>
          <p:nvPr/>
        </p:nvSpPr>
        <p:spPr>
          <a:xfrm>
            <a:off x="3657600" y="2221992"/>
            <a:ext cx="566928" cy="566928"/>
          </a:xfrm>
          <a:prstGeom prst="roundRect">
            <a:avLst>
              <a:gd name="adj" fmla="val 50000"/>
            </a:avLst>
          </a:prstGeom>
          <a:solidFill>
            <a:srgbClr val="1A3A96"/>
          </a:solidFill>
          <a:ln/>
        </p:spPr>
      </p:sp>
      <p:sp>
        <p:nvSpPr>
          <p:cNvPr id="11" name="Text 9"/>
          <p:cNvSpPr/>
          <p:nvPr/>
        </p:nvSpPr>
        <p:spPr>
          <a:xfrm>
            <a:off x="3657600" y="2221992"/>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3657600" y="2926080"/>
            <a:ext cx="2148840" cy="411480"/>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Co-sell</a:t>
            </a:r>
            <a:endParaRPr lang="en-US" sz="1500" dirty="0"/>
          </a:p>
        </p:txBody>
      </p:sp>
      <p:sp>
        <p:nvSpPr>
          <p:cNvPr id="13" name="Text 11"/>
          <p:cNvSpPr/>
          <p:nvPr/>
        </p:nvSpPr>
        <p:spPr>
          <a:xfrm>
            <a:off x="3657600" y="3383280"/>
            <a:ext cx="2148840" cy="1554480"/>
          </a:xfrm>
          <a:prstGeom prst="rect">
            <a:avLst/>
          </a:prstGeom>
          <a:noFill/>
          <a:ln/>
        </p:spPr>
        <p:txBody>
          <a:bodyPr wrap="square" lIns="0" tIns="0" rIns="0" bIns="0" rtlCol="0" anchor="ctr"/>
          <a:lstStyle/>
          <a:p>
            <a:pPr indent="0" marL="0">
              <a:lnSpc>
                <a:spcPct val="105000"/>
              </a:lnSpc>
              <a:buNone/>
            </a:pPr>
            <a:r>
              <a:rPr lang="en-US" sz="1100" dirty="0">
                <a:solidFill>
                  <a:srgbClr val="5A6478"/>
                </a:solidFill>
                <a:latin typeface="Calibri" pitchFamily="34" charset="0"/>
                <a:ea typeface="Calibri" pitchFamily="34" charset="-122"/>
                <a:cs typeface="Calibri" pitchFamily="34" charset="-120"/>
              </a:rPr>
              <a:t>Target Procore accounts where an external lender/owner funds the draw. Vektrum brings the capital side; Procore brings the project.</a:t>
            </a:r>
            <a:endParaRPr lang="en-US" sz="1100" dirty="0"/>
          </a:p>
        </p:txBody>
      </p:sp>
      <p:sp>
        <p:nvSpPr>
          <p:cNvPr id="14" name="Shape 12"/>
          <p:cNvSpPr/>
          <p:nvPr/>
        </p:nvSpPr>
        <p:spPr>
          <a:xfrm>
            <a:off x="6263640" y="1965960"/>
            <a:ext cx="2606040" cy="3108960"/>
          </a:xfrm>
          <a:prstGeom prst="roundRect">
            <a:avLst>
              <a:gd name="adj" fmla="val 2807"/>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15" name="Shape 13"/>
          <p:cNvSpPr/>
          <p:nvPr/>
        </p:nvSpPr>
        <p:spPr>
          <a:xfrm>
            <a:off x="6519672" y="2221992"/>
            <a:ext cx="566928" cy="566928"/>
          </a:xfrm>
          <a:prstGeom prst="roundRect">
            <a:avLst>
              <a:gd name="adj" fmla="val 50000"/>
            </a:avLst>
          </a:prstGeom>
          <a:solidFill>
            <a:srgbClr val="1A3A96"/>
          </a:solidFill>
          <a:ln/>
        </p:spPr>
      </p:sp>
      <p:sp>
        <p:nvSpPr>
          <p:cNvPr id="16" name="Text 14"/>
          <p:cNvSpPr/>
          <p:nvPr/>
        </p:nvSpPr>
        <p:spPr>
          <a:xfrm>
            <a:off x="6519672" y="2221992"/>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6519672" y="2926080"/>
            <a:ext cx="2148840" cy="411480"/>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Bi-directional referral</a:t>
            </a:r>
            <a:endParaRPr lang="en-US" sz="1500" dirty="0"/>
          </a:p>
        </p:txBody>
      </p:sp>
      <p:sp>
        <p:nvSpPr>
          <p:cNvPr id="18" name="Text 16"/>
          <p:cNvSpPr/>
          <p:nvPr/>
        </p:nvSpPr>
        <p:spPr>
          <a:xfrm>
            <a:off x="6519672" y="3383280"/>
            <a:ext cx="2148840" cy="1554480"/>
          </a:xfrm>
          <a:prstGeom prst="rect">
            <a:avLst/>
          </a:prstGeom>
          <a:noFill/>
          <a:ln/>
        </p:spPr>
        <p:txBody>
          <a:bodyPr wrap="square" lIns="0" tIns="0" rIns="0" bIns="0" rtlCol="0" anchor="ctr"/>
          <a:lstStyle/>
          <a:p>
            <a:pPr indent="0" marL="0">
              <a:lnSpc>
                <a:spcPct val="105000"/>
              </a:lnSpc>
              <a:buNone/>
            </a:pPr>
            <a:r>
              <a:rPr lang="en-US" sz="1100" dirty="0">
                <a:solidFill>
                  <a:srgbClr val="5A6478"/>
                </a:solidFill>
                <a:latin typeface="Calibri" pitchFamily="34" charset="0"/>
                <a:ea typeface="Calibri" pitchFamily="34" charset="-122"/>
                <a:cs typeface="Calibri" pitchFamily="34" charset="-120"/>
              </a:rPr>
              <a:t>Procore refers lender-funded projects needing draw governance; Vektrum refers its lenders' GCs onto Procore.</a:t>
            </a:r>
            <a:endParaRPr lang="en-US" sz="1100" dirty="0"/>
          </a:p>
        </p:txBody>
      </p:sp>
      <p:sp>
        <p:nvSpPr>
          <p:cNvPr id="19" name="Shape 17"/>
          <p:cNvSpPr/>
          <p:nvPr/>
        </p:nvSpPr>
        <p:spPr>
          <a:xfrm>
            <a:off x="9116568" y="1965960"/>
            <a:ext cx="2606040" cy="3108960"/>
          </a:xfrm>
          <a:prstGeom prst="roundRect">
            <a:avLst>
              <a:gd name="adj" fmla="val 2807"/>
            </a:avLst>
          </a:prstGeom>
          <a:solidFill>
            <a:srgbClr val="FFFFFF"/>
          </a:solidFill>
          <a:ln w="12700">
            <a:solidFill>
              <a:srgbClr val="D8DFEC"/>
            </a:solidFill>
            <a:prstDash val="solid"/>
          </a:ln>
          <a:effectLst>
            <a:outerShdw sx="100000" sy="100000" kx="0" ky="0" algn="bl" rotWithShape="0" blurRad="101600" dist="25400" dir="5400000">
              <a:srgbClr val="1A2233">
                <a:alpha val="16000"/>
              </a:srgbClr>
            </a:outerShdw>
          </a:effectLst>
        </p:spPr>
      </p:sp>
      <p:sp>
        <p:nvSpPr>
          <p:cNvPr id="20" name="Shape 18"/>
          <p:cNvSpPr/>
          <p:nvPr/>
        </p:nvSpPr>
        <p:spPr>
          <a:xfrm>
            <a:off x="9372600" y="2221992"/>
            <a:ext cx="566928" cy="566928"/>
          </a:xfrm>
          <a:prstGeom prst="roundRect">
            <a:avLst>
              <a:gd name="adj" fmla="val 50000"/>
            </a:avLst>
          </a:prstGeom>
          <a:solidFill>
            <a:srgbClr val="1A3A96"/>
          </a:solidFill>
          <a:ln/>
        </p:spPr>
      </p:sp>
      <p:sp>
        <p:nvSpPr>
          <p:cNvPr id="21" name="Text 19"/>
          <p:cNvSpPr/>
          <p:nvPr/>
        </p:nvSpPr>
        <p:spPr>
          <a:xfrm>
            <a:off x="9372600" y="2221992"/>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9372600" y="2926080"/>
            <a:ext cx="2148840" cy="411480"/>
          </a:xfrm>
          <a:prstGeom prst="rect">
            <a:avLst/>
          </a:prstGeom>
          <a:noFill/>
          <a:ln/>
        </p:spPr>
        <p:txBody>
          <a:bodyPr wrap="square" lIns="0" tIns="0" rIns="0" bIns="0"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No-conflict proof</a:t>
            </a:r>
            <a:endParaRPr lang="en-US" sz="1500" dirty="0"/>
          </a:p>
        </p:txBody>
      </p:sp>
      <p:sp>
        <p:nvSpPr>
          <p:cNvPr id="23" name="Text 21"/>
          <p:cNvSpPr/>
          <p:nvPr/>
        </p:nvSpPr>
        <p:spPr>
          <a:xfrm>
            <a:off x="9372600" y="3383280"/>
            <a:ext cx="2148840" cy="1554480"/>
          </a:xfrm>
          <a:prstGeom prst="rect">
            <a:avLst/>
          </a:prstGeom>
          <a:noFill/>
          <a:ln/>
        </p:spPr>
        <p:txBody>
          <a:bodyPr wrap="square" lIns="0" tIns="0" rIns="0" bIns="0" rtlCol="0" anchor="ctr"/>
          <a:lstStyle/>
          <a:p>
            <a:pPr indent="0" marL="0">
              <a:lnSpc>
                <a:spcPct val="105000"/>
              </a:lnSpc>
              <a:buNone/>
            </a:pPr>
            <a:r>
              <a:rPr lang="en-US" sz="1100" dirty="0">
                <a:solidFill>
                  <a:srgbClr val="5A6478"/>
                </a:solidFill>
                <a:latin typeface="Calibri" pitchFamily="34" charset="0"/>
                <a:ea typeface="Calibri" pitchFamily="34" charset="-122"/>
                <a:cs typeface="Calibri" pitchFamily="34" charset="-120"/>
              </a:rPr>
              <a:t>Non-custodial, reads (not replaces) Levelset, and never competes with Procore Pay.</a:t>
            </a:r>
            <a:endParaRPr lang="en-US" sz="1100" dirty="0"/>
          </a:p>
        </p:txBody>
      </p:sp>
      <p:sp>
        <p:nvSpPr>
          <p:cNvPr id="24" name="Text 22"/>
          <p:cNvSpPr/>
          <p:nvPr/>
        </p:nvSpPr>
        <p:spPr>
          <a:xfrm>
            <a:off x="548640" y="5349240"/>
            <a:ext cx="11064240" cy="274320"/>
          </a:xfrm>
          <a:prstGeom prst="rect">
            <a:avLst/>
          </a:prstGeom>
          <a:noFill/>
          <a:ln/>
        </p:spPr>
        <p:txBody>
          <a:bodyPr wrap="square" rtlCol="0" anchor="ctr"/>
          <a:lstStyle/>
          <a:p>
            <a:pPr algn="ctr" indent="0" marL="0">
              <a:buNone/>
            </a:pPr>
            <a:r>
              <a:rPr lang="en-US" sz="1000" b="1" i="1" dirty="0">
                <a:solidFill>
                  <a:srgbClr val="D9621C"/>
                </a:solidFill>
                <a:latin typeface="Calibri" pitchFamily="34" charset="0"/>
                <a:ea typeface="Calibri" pitchFamily="34" charset="-122"/>
                <a:cs typeface="Calibri" pitchFamily="34" charset="-120"/>
              </a:rPr>
              <a:t>[FOUNDER TO CONFIRM: named design partners / pilots, or “in conversations with N lenders”]</a:t>
            </a:r>
            <a:endParaRPr lang="en-US" sz="1000" dirty="0"/>
          </a:p>
        </p:txBody>
      </p:sp>
      <p:sp>
        <p:nvSpPr>
          <p:cNvPr id="25" name="Text 23"/>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9AA3B5"/>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26" name="Text 24"/>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9AA3B5"/>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828800" y="4114800"/>
            <a:ext cx="7315200" cy="5486400"/>
          </a:xfrm>
          <a:prstGeom prst="ellipse">
            <a:avLst/>
          </a:prstGeom>
          <a:solidFill>
            <a:srgbClr val="1A3A96">
              <a:alpha val="18000"/>
            </a:srgbClr>
          </a:solidFill>
          <a:ln/>
        </p:spPr>
      </p:sp>
      <p:sp>
        <p:nvSpPr>
          <p:cNvPr id="3" name="Text 1"/>
          <p:cNvSpPr/>
          <p:nvPr/>
        </p:nvSpPr>
        <p:spPr>
          <a:xfrm>
            <a:off x="548640" y="420624"/>
            <a:ext cx="10058400" cy="274320"/>
          </a:xfrm>
          <a:prstGeom prst="rect">
            <a:avLst/>
          </a:prstGeom>
          <a:noFill/>
          <a:ln/>
        </p:spPr>
        <p:txBody>
          <a:bodyPr wrap="square" rtlCol="0" anchor="ctr"/>
          <a:lstStyle/>
          <a:p>
            <a:pPr algn="l" indent="0" marL="0">
              <a:buNone/>
            </a:pPr>
            <a:r>
              <a:rPr lang="en-US" sz="1100" b="1" spc="240" kern="0" dirty="0">
                <a:solidFill>
                  <a:srgbClr val="4E74D8"/>
                </a:solidFill>
                <a:latin typeface="Calibri" pitchFamily="34" charset="0"/>
                <a:ea typeface="Calibri" pitchFamily="34" charset="-122"/>
                <a:cs typeface="Calibri" pitchFamily="34" charset="-120"/>
              </a:rPr>
              <a:t>ROADMAP</a:t>
            </a:r>
            <a:endParaRPr lang="en-US" sz="1100" dirty="0"/>
          </a:p>
        </p:txBody>
      </p:sp>
      <p:sp>
        <p:nvSpPr>
          <p:cNvPr id="4" name="Text 2"/>
          <p:cNvSpPr/>
          <p:nvPr/>
        </p:nvSpPr>
        <p:spPr>
          <a:xfrm>
            <a:off x="548640" y="713232"/>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today. Proposed next.</a:t>
            </a:r>
            <a:endParaRPr lang="en-US" sz="3200" dirty="0"/>
          </a:p>
        </p:txBody>
      </p:sp>
      <p:sp>
        <p:nvSpPr>
          <p:cNvPr id="5" name="Shape 3"/>
          <p:cNvSpPr/>
          <p:nvPr/>
        </p:nvSpPr>
        <p:spPr>
          <a:xfrm>
            <a:off x="548640" y="1828800"/>
            <a:ext cx="2606040" cy="3657600"/>
          </a:xfrm>
          <a:prstGeom prst="roundRect">
            <a:avLst>
              <a:gd name="adj" fmla="val 2807"/>
            </a:avLst>
          </a:prstGeom>
          <a:solidFill>
            <a:srgbClr val="12233A"/>
          </a:solidFill>
          <a:ln w="12700">
            <a:solidFill>
              <a:srgbClr val="2A3C55"/>
            </a:solidFill>
            <a:prstDash val="solid"/>
          </a:ln>
        </p:spPr>
      </p:sp>
      <p:sp>
        <p:nvSpPr>
          <p:cNvPr id="6" name="Text 4"/>
          <p:cNvSpPr/>
          <p:nvPr/>
        </p:nvSpPr>
        <p:spPr>
          <a:xfrm>
            <a:off x="749808" y="2029968"/>
            <a:ext cx="2203704" cy="548640"/>
          </a:xfrm>
          <a:prstGeom prst="rect">
            <a:avLst/>
          </a:prstGeom>
          <a:noFill/>
          <a:ln/>
        </p:spPr>
        <p:txBody>
          <a:bodyPr wrap="square" lIns="0" tIns="0" rIns="0" bIns="0" rtlCol="0" anchor="ctr"/>
          <a:lstStyle/>
          <a:p>
            <a:pPr indent="0" marL="0">
              <a:buNone/>
            </a:pPr>
            <a:r>
              <a:rPr lang="en-US" sz="1050" b="1" spc="50" kern="0" dirty="0">
                <a:solidFill>
                  <a:srgbClr val="1A7A4A"/>
                </a:solidFill>
                <a:latin typeface="Calibri" pitchFamily="34" charset="0"/>
                <a:ea typeface="Calibri" pitchFamily="34" charset="-122"/>
                <a:cs typeface="Calibri" pitchFamily="34" charset="-120"/>
              </a:rPr>
              <a:t>LIVE TODAY</a:t>
            </a:r>
            <a:endParaRPr lang="en-US" sz="1050" dirty="0"/>
          </a:p>
        </p:txBody>
      </p:sp>
      <p:sp>
        <p:nvSpPr>
          <p:cNvPr id="7" name="Text 5"/>
          <p:cNvSpPr/>
          <p:nvPr/>
        </p:nvSpPr>
        <p:spPr>
          <a:xfrm>
            <a:off x="749808" y="2651760"/>
            <a:ext cx="2203704" cy="2651760"/>
          </a:xfrm>
          <a:prstGeom prst="rect">
            <a:avLst/>
          </a:prstGeom>
          <a:noFill/>
          <a:ln/>
        </p:spPr>
        <p:txBody>
          <a:bodyPr wrap="square" lIns="0" tIns="0" rIns="0" bIns="0" rtlCol="0" anchor="ctr"/>
          <a:lstStyle/>
          <a:p>
            <a:pPr marL="152400" indent="-152400">
              <a:lnSpc>
                <a:spcPct val="105000"/>
              </a:lnSpc>
              <a:spcAft>
                <a:spcPts val="600"/>
              </a:spcAft>
              <a:buSzPct val="100000"/>
              <a:buChar char="•"/>
            </a:pPr>
            <a:r>
              <a:rPr lang="en-US" sz="1050" dirty="0">
                <a:solidFill>
                  <a:srgbClr val="D7DEEA"/>
                </a:solidFill>
                <a:latin typeface="Calibri" pitchFamily="34" charset="0"/>
                <a:ea typeface="Calibri" pitchFamily="34" charset="-122"/>
                <a:cs typeface="Calibri" pitchFamily="34" charset="-120"/>
              </a:rPr>
              <a:t>10-condition release gate</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Signed authorization tokens</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Hash-chained audit + export</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Stripe + external rails</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DocuSign · SOV (G702/G703)</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Lien-waiver gating · dispute isolation</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Partner API + HMAC webhooks</a:t>
            </a:r>
            <a:endParaRPr lang="en-US" sz="1050" dirty="0"/>
          </a:p>
        </p:txBody>
      </p:sp>
      <p:sp>
        <p:nvSpPr>
          <p:cNvPr id="8" name="Shape 6"/>
          <p:cNvSpPr/>
          <p:nvPr/>
        </p:nvSpPr>
        <p:spPr>
          <a:xfrm>
            <a:off x="3401568" y="1828800"/>
            <a:ext cx="2606040" cy="3657600"/>
          </a:xfrm>
          <a:prstGeom prst="roundRect">
            <a:avLst>
              <a:gd name="adj" fmla="val 2807"/>
            </a:avLst>
          </a:prstGeom>
          <a:solidFill>
            <a:srgbClr val="12233A"/>
          </a:solidFill>
          <a:ln w="12700">
            <a:solidFill>
              <a:srgbClr val="2A3C55"/>
            </a:solidFill>
            <a:prstDash val="solid"/>
          </a:ln>
        </p:spPr>
      </p:sp>
      <p:sp>
        <p:nvSpPr>
          <p:cNvPr id="9" name="Text 7"/>
          <p:cNvSpPr/>
          <p:nvPr/>
        </p:nvSpPr>
        <p:spPr>
          <a:xfrm>
            <a:off x="3602736" y="2029968"/>
            <a:ext cx="2203704" cy="548640"/>
          </a:xfrm>
          <a:prstGeom prst="rect">
            <a:avLst/>
          </a:prstGeom>
          <a:noFill/>
          <a:ln/>
        </p:spPr>
        <p:txBody>
          <a:bodyPr wrap="square" lIns="0" tIns="0" rIns="0" bIns="0" rtlCol="0" anchor="ctr"/>
          <a:lstStyle/>
          <a:p>
            <a:pPr indent="0" marL="0">
              <a:buNone/>
            </a:pPr>
            <a:r>
              <a:rPr lang="en-US" sz="1050" b="1" spc="50" kern="0" dirty="0">
                <a:solidFill>
                  <a:srgbClr val="4E74D8"/>
                </a:solidFill>
                <a:latin typeface="Calibri" pitchFamily="34" charset="0"/>
                <a:ea typeface="Calibri" pitchFamily="34" charset="-122"/>
                <a:cs typeface="Calibri" pitchFamily="34" charset="-120"/>
              </a:rPr>
              <a:t>PHASE 1 · READ  [PROPOSED]</a:t>
            </a:r>
            <a:endParaRPr lang="en-US" sz="1050" dirty="0"/>
          </a:p>
        </p:txBody>
      </p:sp>
      <p:sp>
        <p:nvSpPr>
          <p:cNvPr id="10" name="Text 8"/>
          <p:cNvSpPr/>
          <p:nvPr/>
        </p:nvSpPr>
        <p:spPr>
          <a:xfrm>
            <a:off x="3602736" y="2651760"/>
            <a:ext cx="2203704" cy="2651760"/>
          </a:xfrm>
          <a:prstGeom prst="rect">
            <a:avLst/>
          </a:prstGeom>
          <a:noFill/>
          <a:ln/>
        </p:spPr>
        <p:txBody>
          <a:bodyPr wrap="square" lIns="0" tIns="0" rIns="0" bIns="0" rtlCol="0" anchor="ctr"/>
          <a:lstStyle/>
          <a:p>
            <a:pPr marL="152400" indent="-152400">
              <a:lnSpc>
                <a:spcPct val="105000"/>
              </a:lnSpc>
              <a:spcAft>
                <a:spcPts val="600"/>
              </a:spcAft>
              <a:buSzPct val="100000"/>
              <a:buChar char="•"/>
            </a:pPr>
            <a:r>
              <a:rPr lang="en-US" sz="1050" dirty="0">
                <a:solidFill>
                  <a:srgbClr val="D7DEEA"/>
                </a:solidFill>
                <a:latin typeface="Calibri" pitchFamily="34" charset="0"/>
                <a:ea typeface="Calibri" pitchFamily="34" charset="-122"/>
                <a:cs typeface="Calibri" pitchFamily="34" charset="-120"/>
              </a:rPr>
              <a:t>Procore OAuth app</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READ Prime Contract SOV</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READ change orders</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READ documents / photos</a:t>
            </a:r>
            <a:endParaRPr lang="en-US" sz="1050" dirty="0"/>
          </a:p>
        </p:txBody>
      </p:sp>
      <p:sp>
        <p:nvSpPr>
          <p:cNvPr id="11" name="Shape 9"/>
          <p:cNvSpPr/>
          <p:nvPr/>
        </p:nvSpPr>
        <p:spPr>
          <a:xfrm>
            <a:off x="6263640" y="1828800"/>
            <a:ext cx="2606040" cy="3657600"/>
          </a:xfrm>
          <a:prstGeom prst="roundRect">
            <a:avLst>
              <a:gd name="adj" fmla="val 2807"/>
            </a:avLst>
          </a:prstGeom>
          <a:solidFill>
            <a:srgbClr val="12233A"/>
          </a:solidFill>
          <a:ln w="12700">
            <a:solidFill>
              <a:srgbClr val="2A3C55"/>
            </a:solidFill>
            <a:prstDash val="solid"/>
          </a:ln>
        </p:spPr>
      </p:sp>
      <p:sp>
        <p:nvSpPr>
          <p:cNvPr id="12" name="Text 10"/>
          <p:cNvSpPr/>
          <p:nvPr/>
        </p:nvSpPr>
        <p:spPr>
          <a:xfrm>
            <a:off x="6464808" y="2029968"/>
            <a:ext cx="2203704" cy="548640"/>
          </a:xfrm>
          <a:prstGeom prst="rect">
            <a:avLst/>
          </a:prstGeom>
          <a:noFill/>
          <a:ln/>
        </p:spPr>
        <p:txBody>
          <a:bodyPr wrap="square" lIns="0" tIns="0" rIns="0" bIns="0" rtlCol="0" anchor="ctr"/>
          <a:lstStyle/>
          <a:p>
            <a:pPr indent="0" marL="0">
              <a:buNone/>
            </a:pPr>
            <a:r>
              <a:rPr lang="en-US" sz="1050" b="1" spc="50" kern="0" dirty="0">
                <a:solidFill>
                  <a:srgbClr val="4E74D8"/>
                </a:solidFill>
                <a:latin typeface="Calibri" pitchFamily="34" charset="0"/>
                <a:ea typeface="Calibri" pitchFamily="34" charset="-122"/>
                <a:cs typeface="Calibri" pitchFamily="34" charset="-120"/>
              </a:rPr>
              <a:t>PHASE 2 · WRITE  [PROPOSED]</a:t>
            </a:r>
            <a:endParaRPr lang="en-US" sz="1050" dirty="0"/>
          </a:p>
        </p:txBody>
      </p:sp>
      <p:sp>
        <p:nvSpPr>
          <p:cNvPr id="13" name="Text 11"/>
          <p:cNvSpPr/>
          <p:nvPr/>
        </p:nvSpPr>
        <p:spPr>
          <a:xfrm>
            <a:off x="6464808" y="2651760"/>
            <a:ext cx="2203704" cy="2651760"/>
          </a:xfrm>
          <a:prstGeom prst="rect">
            <a:avLst/>
          </a:prstGeom>
          <a:noFill/>
          <a:ln/>
        </p:spPr>
        <p:txBody>
          <a:bodyPr wrap="square" lIns="0" tIns="0" rIns="0" bIns="0" rtlCol="0" anchor="ctr"/>
          <a:lstStyle/>
          <a:p>
            <a:pPr marL="152400" indent="-152400">
              <a:lnSpc>
                <a:spcPct val="105000"/>
              </a:lnSpc>
              <a:spcAft>
                <a:spcPts val="600"/>
              </a:spcAft>
              <a:buSzPct val="100000"/>
              <a:buChar char="•"/>
            </a:pPr>
            <a:r>
              <a:rPr lang="en-US" sz="1050" dirty="0">
                <a:solidFill>
                  <a:srgbClr val="D7DEEA"/>
                </a:solidFill>
                <a:latin typeface="Calibri" pitchFamily="34" charset="0"/>
                <a:ea typeface="Calibri" pitchFamily="34" charset="-122"/>
                <a:cs typeface="Calibri" pitchFamily="34" charset="-120"/>
              </a:rPr>
              <a:t>CREATE audit attachment on Prime Contract</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UPDATE draw-verification status field</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Non-invasive · no core writes</a:t>
            </a:r>
            <a:endParaRPr lang="en-US" sz="1050" dirty="0"/>
          </a:p>
        </p:txBody>
      </p:sp>
      <p:sp>
        <p:nvSpPr>
          <p:cNvPr id="14" name="Shape 12"/>
          <p:cNvSpPr/>
          <p:nvPr/>
        </p:nvSpPr>
        <p:spPr>
          <a:xfrm>
            <a:off x="9116568" y="1828800"/>
            <a:ext cx="2606040" cy="3657600"/>
          </a:xfrm>
          <a:prstGeom prst="roundRect">
            <a:avLst>
              <a:gd name="adj" fmla="val 2807"/>
            </a:avLst>
          </a:prstGeom>
          <a:solidFill>
            <a:srgbClr val="12233A"/>
          </a:solidFill>
          <a:ln w="12700">
            <a:solidFill>
              <a:srgbClr val="2A3C55"/>
            </a:solidFill>
            <a:prstDash val="solid"/>
          </a:ln>
        </p:spPr>
      </p:sp>
      <p:sp>
        <p:nvSpPr>
          <p:cNvPr id="15" name="Text 13"/>
          <p:cNvSpPr/>
          <p:nvPr/>
        </p:nvSpPr>
        <p:spPr>
          <a:xfrm>
            <a:off x="9317736" y="2029968"/>
            <a:ext cx="2203704" cy="548640"/>
          </a:xfrm>
          <a:prstGeom prst="rect">
            <a:avLst/>
          </a:prstGeom>
          <a:noFill/>
          <a:ln/>
        </p:spPr>
        <p:txBody>
          <a:bodyPr wrap="square" lIns="0" tIns="0" rIns="0" bIns="0" rtlCol="0" anchor="ctr"/>
          <a:lstStyle/>
          <a:p>
            <a:pPr indent="0" marL="0">
              <a:buNone/>
            </a:pPr>
            <a:r>
              <a:rPr lang="en-US" sz="1050" b="1" spc="50" kern="0" dirty="0">
                <a:solidFill>
                  <a:srgbClr val="9FB0CC"/>
                </a:solidFill>
                <a:latin typeface="Calibri" pitchFamily="34" charset="0"/>
                <a:ea typeface="Calibri" pitchFamily="34" charset="-122"/>
                <a:cs typeface="Calibri" pitchFamily="34" charset="-120"/>
              </a:rPr>
              <a:t>PHASE 3 · GA  [PROPOSED]</a:t>
            </a:r>
            <a:endParaRPr lang="en-US" sz="1050" dirty="0"/>
          </a:p>
        </p:txBody>
      </p:sp>
      <p:sp>
        <p:nvSpPr>
          <p:cNvPr id="16" name="Text 14"/>
          <p:cNvSpPr/>
          <p:nvPr/>
        </p:nvSpPr>
        <p:spPr>
          <a:xfrm>
            <a:off x="9317736" y="2651760"/>
            <a:ext cx="2203704" cy="2651760"/>
          </a:xfrm>
          <a:prstGeom prst="rect">
            <a:avLst/>
          </a:prstGeom>
          <a:noFill/>
          <a:ln/>
        </p:spPr>
        <p:txBody>
          <a:bodyPr wrap="square" lIns="0" tIns="0" rIns="0" bIns="0" rtlCol="0" anchor="ctr"/>
          <a:lstStyle/>
          <a:p>
            <a:pPr marL="152400" indent="-152400">
              <a:lnSpc>
                <a:spcPct val="105000"/>
              </a:lnSpc>
              <a:spcAft>
                <a:spcPts val="600"/>
              </a:spcAft>
              <a:buSzPct val="100000"/>
              <a:buChar char="•"/>
            </a:pPr>
            <a:r>
              <a:rPr lang="en-US" sz="1050" dirty="0">
                <a:solidFill>
                  <a:srgbClr val="D7DEEA"/>
                </a:solidFill>
                <a:latin typeface="Calibri" pitchFamily="34" charset="0"/>
                <a:ea typeface="Calibri" pitchFamily="34" charset="-122"/>
                <a:cs typeface="Calibri" pitchFamily="34" charset="-120"/>
              </a:rPr>
              <a:t>READ Levelset waiver status</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Event-driven re-verification</a:t>
            </a:r>
            <a:endParaRPr lang="en-US" sz="1050" dirty="0"/>
          </a:p>
          <a:p>
            <a:pPr indent="0" marL="0">
              <a:lnSpc>
                <a:spcPct val="105000"/>
              </a:lnSpc>
              <a:spcAft>
                <a:spcPts val="600"/>
              </a:spcAft>
              <a:buNone/>
            </a:pPr>
            <a:r>
              <a:rPr lang="en-US" sz="1050" dirty="0">
                <a:solidFill>
                  <a:srgbClr val="D7DEEA"/>
                </a:solidFill>
                <a:latin typeface="Calibri" pitchFamily="34" charset="0"/>
                <a:ea typeface="Calibri" pitchFamily="34" charset="-122"/>
                <a:cs typeface="Calibri" pitchFamily="34" charset="-120"/>
              </a:rPr>
              <a:t>Procore Marketplace GA</a:t>
            </a:r>
            <a:endParaRPr lang="en-US" sz="1050" dirty="0"/>
          </a:p>
        </p:txBody>
      </p:sp>
      <p:sp>
        <p:nvSpPr>
          <p:cNvPr id="17" name="Text 15"/>
          <p:cNvSpPr/>
          <p:nvPr/>
        </p:nvSpPr>
        <p:spPr>
          <a:xfrm>
            <a:off x="548640" y="5806440"/>
            <a:ext cx="11064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Everything in the governance core is built and running.  </a:t>
            </a:r>
            <a:pPr algn="ctr" indent="0" marL="0">
              <a:buNone/>
            </a:pPr>
            <a:r>
              <a:rPr lang="en-US" sz="1250" dirty="0">
                <a:solidFill>
                  <a:srgbClr val="9FB0CC"/>
                </a:solidFill>
                <a:latin typeface="Calibri" pitchFamily="34" charset="0"/>
                <a:ea typeface="Calibri" pitchFamily="34" charset="-122"/>
                <a:cs typeface="Calibri" pitchFamily="34" charset="-120"/>
              </a:rPr>
              <a:t>The Procore connector is a scoped extension of an integration framework we already ship.</a:t>
            </a:r>
            <a:endParaRPr lang="en-US" sz="1250" dirty="0"/>
          </a:p>
        </p:txBody>
      </p:sp>
      <p:sp>
        <p:nvSpPr>
          <p:cNvPr id="18" name="Text 16"/>
          <p:cNvSpPr/>
          <p:nvPr/>
        </p:nvSpPr>
        <p:spPr>
          <a:xfrm>
            <a:off x="548640" y="6455664"/>
            <a:ext cx="8229600" cy="274320"/>
          </a:xfrm>
          <a:prstGeom prst="rect">
            <a:avLst/>
          </a:prstGeom>
          <a:noFill/>
          <a:ln/>
        </p:spPr>
        <p:txBody>
          <a:bodyPr wrap="square" rtlCol="0" anchor="ctr"/>
          <a:lstStyle/>
          <a:p>
            <a:pPr algn="l" indent="0" marL="0">
              <a:buNone/>
            </a:pPr>
            <a:r>
              <a:rPr lang="en-US" sz="800" dirty="0">
                <a:solidFill>
                  <a:srgbClr val="6C7A90"/>
                </a:solidFill>
                <a:latin typeface="Calibri" pitchFamily="34" charset="0"/>
                <a:ea typeface="Calibri" pitchFamily="34" charset="-122"/>
                <a:cs typeface="Calibri" pitchFamily="34" charset="-120"/>
              </a:rPr>
              <a:t>Vektrum + Procore  ·  Better Together  ·  Technical Feasibility</a:t>
            </a:r>
            <a:endParaRPr lang="en-US" sz="800" dirty="0"/>
          </a:p>
        </p:txBody>
      </p:sp>
      <p:sp>
        <p:nvSpPr>
          <p:cNvPr id="19" name="Text 17"/>
          <p:cNvSpPr/>
          <p:nvPr/>
        </p:nvSpPr>
        <p:spPr>
          <a:xfrm>
            <a:off x="11338560" y="6455664"/>
            <a:ext cx="365760" cy="274320"/>
          </a:xfrm>
          <a:prstGeom prst="rect">
            <a:avLst/>
          </a:prstGeom>
          <a:noFill/>
          <a:ln/>
        </p:spPr>
        <p:txBody>
          <a:bodyPr wrap="square" rtlCol="0" anchor="ctr"/>
          <a:lstStyle/>
          <a:p>
            <a:pPr algn="r" indent="0" marL="0">
              <a:buNone/>
            </a:pPr>
            <a:r>
              <a:rPr lang="en-US" sz="800" dirty="0">
                <a:solidFill>
                  <a:srgbClr val="6C7A9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Vektrum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Vektrum</dc:creator>
  <cp:lastModifiedBy>Vektrum</cp:lastModifiedBy>
  <cp:revision>1</cp:revision>
  <dcterms:created xsi:type="dcterms:W3CDTF">2026-07-18T22:07:21Z</dcterms:created>
  <dcterms:modified xsi:type="dcterms:W3CDTF">2026-07-18T22:07:21Z</dcterms:modified>
</cp:coreProperties>
</file>